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2" r:id="rId2"/>
    <p:sldId id="256" r:id="rId3"/>
    <p:sldId id="257" r:id="rId4"/>
    <p:sldId id="258" r:id="rId5"/>
    <p:sldId id="259" r:id="rId6"/>
    <p:sldId id="260" r:id="rId7"/>
    <p:sldId id="261" r:id="rId8"/>
    <p:sldId id="262" r:id="rId9"/>
    <p:sldId id="263" r:id="rId10"/>
    <p:sldId id="288" r:id="rId11"/>
    <p:sldId id="289" r:id="rId12"/>
    <p:sldId id="290" r:id="rId13"/>
    <p:sldId id="291"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87" r:id="rId29"/>
    <p:sldId id="278" r:id="rId30"/>
    <p:sldId id="279" r:id="rId31"/>
    <p:sldId id="280" r:id="rId32"/>
    <p:sldId id="281" r:id="rId33"/>
    <p:sldId id="282" r:id="rId34"/>
    <p:sldId id="283" r:id="rId35"/>
    <p:sldId id="284" r:id="rId36"/>
    <p:sldId id="285" r:id="rId37"/>
    <p:sldId id="293" r:id="rId38"/>
    <p:sldId id="28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89" d="100"/>
          <a:sy n="89" d="100"/>
        </p:scale>
        <p:origin x="-45" y="2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C8A4D4-DCCF-43D9-8DAC-FD9F919B6725}"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2DD3D9DC-2F6D-4923-9FC2-B7A189155DC9}">
      <dgm:prSet/>
      <dgm:spPr/>
      <dgm:t>
        <a:bodyPr/>
        <a:lstStyle/>
        <a:p>
          <a:r>
            <a:rPr lang="en-US"/>
            <a:t>• Install Xcode from the Mac App Store if you're on macOS.</a:t>
          </a:r>
        </a:p>
      </dgm:t>
    </dgm:pt>
    <dgm:pt modelId="{236767F1-8484-4DF3-998D-E10F6CD9BE01}" type="parTrans" cxnId="{2B74150F-1C25-4BDD-AC40-02B8FCC7948E}">
      <dgm:prSet/>
      <dgm:spPr/>
      <dgm:t>
        <a:bodyPr/>
        <a:lstStyle/>
        <a:p>
          <a:endParaRPr lang="en-US"/>
        </a:p>
      </dgm:t>
    </dgm:pt>
    <dgm:pt modelId="{2553DC1A-4120-41C1-9620-400E65A5E1B7}" type="sibTrans" cxnId="{2B74150F-1C25-4BDD-AC40-02B8FCC7948E}">
      <dgm:prSet/>
      <dgm:spPr/>
      <dgm:t>
        <a:bodyPr/>
        <a:lstStyle/>
        <a:p>
          <a:endParaRPr lang="en-US"/>
        </a:p>
      </dgm:t>
    </dgm:pt>
    <dgm:pt modelId="{8119C5FC-AE39-48E3-A197-631ED35405E7}">
      <dgm:prSet/>
      <dgm:spPr/>
      <dgm:t>
        <a:bodyPr/>
        <a:lstStyle/>
        <a:p>
          <a:r>
            <a:rPr lang="en-US"/>
            <a:t>• Xcode includes the necessary tools and simulators for iOS development.</a:t>
          </a:r>
        </a:p>
      </dgm:t>
    </dgm:pt>
    <dgm:pt modelId="{8D6F0BCE-C67C-43C1-BD85-979ABD7E9CE9}" type="parTrans" cxnId="{F1BAA01A-0EED-42AE-B4C6-8146BAB17135}">
      <dgm:prSet/>
      <dgm:spPr/>
      <dgm:t>
        <a:bodyPr/>
        <a:lstStyle/>
        <a:p>
          <a:endParaRPr lang="en-US"/>
        </a:p>
      </dgm:t>
    </dgm:pt>
    <dgm:pt modelId="{4061409C-55D0-40DD-867E-559E821440EE}" type="sibTrans" cxnId="{F1BAA01A-0EED-42AE-B4C6-8146BAB17135}">
      <dgm:prSet/>
      <dgm:spPr/>
      <dgm:t>
        <a:bodyPr/>
        <a:lstStyle/>
        <a:p>
          <a:endParaRPr lang="en-US"/>
        </a:p>
      </dgm:t>
    </dgm:pt>
    <dgm:pt modelId="{F4263F3F-1E32-4346-91CC-8983E522DA83}">
      <dgm:prSet/>
      <dgm:spPr/>
      <dgm:t>
        <a:bodyPr/>
        <a:lstStyle/>
        <a:p>
          <a:r>
            <a:rPr lang="en-US" b="1"/>
            <a:t>b. iOS Simulator (from Xcode):</a:t>
          </a:r>
          <a:endParaRPr lang="en-US"/>
        </a:p>
      </dgm:t>
    </dgm:pt>
    <dgm:pt modelId="{DE4C9311-77B9-4E35-892B-A850B7712BB9}" type="parTrans" cxnId="{4AAEA7A7-917A-46F0-ACAA-2FE73259F526}">
      <dgm:prSet/>
      <dgm:spPr/>
      <dgm:t>
        <a:bodyPr/>
        <a:lstStyle/>
        <a:p>
          <a:endParaRPr lang="en-US"/>
        </a:p>
      </dgm:t>
    </dgm:pt>
    <dgm:pt modelId="{E339D82D-C2F0-4545-8603-DD1101481DDC}" type="sibTrans" cxnId="{4AAEA7A7-917A-46F0-ACAA-2FE73259F526}">
      <dgm:prSet/>
      <dgm:spPr/>
      <dgm:t>
        <a:bodyPr/>
        <a:lstStyle/>
        <a:p>
          <a:endParaRPr lang="en-US"/>
        </a:p>
      </dgm:t>
    </dgm:pt>
    <dgm:pt modelId="{A5B3FE3C-A4D8-4D54-B837-46374E50B557}">
      <dgm:prSet/>
      <dgm:spPr/>
      <dgm:t>
        <a:bodyPr/>
        <a:lstStyle/>
        <a:p>
          <a:r>
            <a:rPr lang="en-US"/>
            <a:t>• Open Xcode.</a:t>
          </a:r>
        </a:p>
      </dgm:t>
    </dgm:pt>
    <dgm:pt modelId="{DBC99021-1670-4D07-85C9-0F4437C19D62}" type="parTrans" cxnId="{5230BA23-5D04-491B-90F2-F3D6B949A6E1}">
      <dgm:prSet/>
      <dgm:spPr/>
      <dgm:t>
        <a:bodyPr/>
        <a:lstStyle/>
        <a:p>
          <a:endParaRPr lang="en-US"/>
        </a:p>
      </dgm:t>
    </dgm:pt>
    <dgm:pt modelId="{E45424F0-6FEA-401D-9DAD-3AA8024188C2}" type="sibTrans" cxnId="{5230BA23-5D04-491B-90F2-F3D6B949A6E1}">
      <dgm:prSet/>
      <dgm:spPr/>
      <dgm:t>
        <a:bodyPr/>
        <a:lstStyle/>
        <a:p>
          <a:endParaRPr lang="en-US"/>
        </a:p>
      </dgm:t>
    </dgm:pt>
    <dgm:pt modelId="{BE0B9F3A-ABA2-4124-8C54-C0338C30FC56}">
      <dgm:prSet/>
      <dgm:spPr/>
      <dgm:t>
        <a:bodyPr/>
        <a:lstStyle/>
        <a:p>
          <a:r>
            <a:rPr lang="en-US"/>
            <a:t>• Go to "Xcode" in the menu bar, then select "Open Developer Tool" and choose "Simulator."</a:t>
          </a:r>
        </a:p>
      </dgm:t>
    </dgm:pt>
    <dgm:pt modelId="{181E2069-CEA0-418A-991E-DA15591A60B0}" type="parTrans" cxnId="{57CFBFF7-8EC0-4AFE-9E24-7DA0149D80BF}">
      <dgm:prSet/>
      <dgm:spPr/>
      <dgm:t>
        <a:bodyPr/>
        <a:lstStyle/>
        <a:p>
          <a:endParaRPr lang="en-US"/>
        </a:p>
      </dgm:t>
    </dgm:pt>
    <dgm:pt modelId="{41239A10-793E-4CA0-962D-DF286A6FCB92}" type="sibTrans" cxnId="{57CFBFF7-8EC0-4AFE-9E24-7DA0149D80BF}">
      <dgm:prSet/>
      <dgm:spPr/>
      <dgm:t>
        <a:bodyPr/>
        <a:lstStyle/>
        <a:p>
          <a:endParaRPr lang="en-US"/>
        </a:p>
      </dgm:t>
    </dgm:pt>
    <dgm:pt modelId="{9061CFED-5DFB-4AAA-9756-56B2E55D3CBD}">
      <dgm:prSet/>
      <dgm:spPr/>
      <dgm:t>
        <a:bodyPr/>
        <a:lstStyle/>
        <a:p>
          <a:r>
            <a:rPr lang="en-US" dirty="0"/>
            <a:t>• In the Simulator app, you can select different iOS devices and versions to simulate.</a:t>
          </a:r>
        </a:p>
      </dgm:t>
    </dgm:pt>
    <dgm:pt modelId="{A5D7940F-D57C-4717-8823-16FC9319CB36}" type="parTrans" cxnId="{2CBF158A-45F5-404B-9127-80B777C83828}">
      <dgm:prSet/>
      <dgm:spPr/>
      <dgm:t>
        <a:bodyPr/>
        <a:lstStyle/>
        <a:p>
          <a:endParaRPr lang="en-US"/>
        </a:p>
      </dgm:t>
    </dgm:pt>
    <dgm:pt modelId="{5628FF48-C1BA-439C-ACF0-04A3951123D4}" type="sibTrans" cxnId="{2CBF158A-45F5-404B-9127-80B777C83828}">
      <dgm:prSet/>
      <dgm:spPr/>
      <dgm:t>
        <a:bodyPr/>
        <a:lstStyle/>
        <a:p>
          <a:endParaRPr lang="en-US"/>
        </a:p>
      </dgm:t>
    </dgm:pt>
    <dgm:pt modelId="{28F73774-3E8F-4543-A446-A20FE9C2E400}">
      <dgm:prSet/>
      <dgm:spPr/>
      <dgm:t>
        <a:bodyPr/>
        <a:lstStyle/>
        <a:p>
          <a:r>
            <a:rPr lang="en-US"/>
            <a:t>Verify Flutter Installation:</a:t>
          </a:r>
        </a:p>
      </dgm:t>
    </dgm:pt>
    <dgm:pt modelId="{6BEF2DAD-2647-4A2D-87EE-2133BF01D020}" type="parTrans" cxnId="{930B7875-6D01-428F-9CF0-1336792B01F5}">
      <dgm:prSet/>
      <dgm:spPr/>
      <dgm:t>
        <a:bodyPr/>
        <a:lstStyle/>
        <a:p>
          <a:endParaRPr lang="en-US"/>
        </a:p>
      </dgm:t>
    </dgm:pt>
    <dgm:pt modelId="{CDAACBDF-B256-40D3-9637-44564E5D0037}" type="sibTrans" cxnId="{930B7875-6D01-428F-9CF0-1336792B01F5}">
      <dgm:prSet/>
      <dgm:spPr/>
      <dgm:t>
        <a:bodyPr/>
        <a:lstStyle/>
        <a:p>
          <a:endParaRPr lang="en-US"/>
        </a:p>
      </dgm:t>
    </dgm:pt>
    <dgm:pt modelId="{A8FB5DD2-45AF-4DB6-A085-D6B3E9075615}">
      <dgm:prSet/>
      <dgm:spPr/>
      <dgm:t>
        <a:bodyPr/>
        <a:lstStyle/>
        <a:p>
          <a:r>
            <a:rPr lang="en-US"/>
            <a:t>a. Run a Sample App:</a:t>
          </a:r>
        </a:p>
      </dgm:t>
    </dgm:pt>
    <dgm:pt modelId="{98F8DDA2-84FA-4793-BB1E-C5A83317E781}" type="parTrans" cxnId="{DA714F9A-9E34-44A1-9B53-1C71A2C7E853}">
      <dgm:prSet/>
      <dgm:spPr/>
      <dgm:t>
        <a:bodyPr/>
        <a:lstStyle/>
        <a:p>
          <a:endParaRPr lang="en-US"/>
        </a:p>
      </dgm:t>
    </dgm:pt>
    <dgm:pt modelId="{53B00FA3-688D-4BF1-AF48-C5BDF5F74A3B}" type="sibTrans" cxnId="{DA714F9A-9E34-44A1-9B53-1C71A2C7E853}">
      <dgm:prSet/>
      <dgm:spPr/>
      <dgm:t>
        <a:bodyPr/>
        <a:lstStyle/>
        <a:p>
          <a:endParaRPr lang="en-US"/>
        </a:p>
      </dgm:t>
    </dgm:pt>
    <dgm:pt modelId="{71BDF628-3F5D-40D2-B0C1-F685357A02FD}">
      <dgm:prSet/>
      <dgm:spPr/>
      <dgm:t>
        <a:bodyPr/>
        <a:lstStyle/>
        <a:p>
          <a:r>
            <a:rPr lang="en-US"/>
            <a:t>• Create a new Flutter app by running flutter create myapp in the terminal.</a:t>
          </a:r>
        </a:p>
      </dgm:t>
    </dgm:pt>
    <dgm:pt modelId="{1B564A65-0606-4065-B50E-7B33E724CE35}" type="parTrans" cxnId="{EAAB5475-06B5-4D00-A9C1-8C2034E9C13D}">
      <dgm:prSet/>
      <dgm:spPr/>
      <dgm:t>
        <a:bodyPr/>
        <a:lstStyle/>
        <a:p>
          <a:endParaRPr lang="en-US"/>
        </a:p>
      </dgm:t>
    </dgm:pt>
    <dgm:pt modelId="{CB30B251-D92A-472C-A349-7F1D7B10D22F}" type="sibTrans" cxnId="{EAAB5475-06B5-4D00-A9C1-8C2034E9C13D}">
      <dgm:prSet/>
      <dgm:spPr/>
      <dgm:t>
        <a:bodyPr/>
        <a:lstStyle/>
        <a:p>
          <a:endParaRPr lang="en-US"/>
        </a:p>
      </dgm:t>
    </dgm:pt>
    <dgm:pt modelId="{6F8949A7-537D-48A9-A0F0-3415D1CAB353}">
      <dgm:prSet/>
      <dgm:spPr/>
      <dgm:t>
        <a:bodyPr/>
        <a:lstStyle/>
        <a:p>
          <a:r>
            <a:rPr lang="en-US"/>
            <a:t>• Navigate to the app's directory using cd myapp.</a:t>
          </a:r>
        </a:p>
      </dgm:t>
    </dgm:pt>
    <dgm:pt modelId="{F9B38034-AB98-4DE9-91D0-BDAB44ABE512}" type="parTrans" cxnId="{40957045-060A-44FE-A0F4-C7AA6444609E}">
      <dgm:prSet/>
      <dgm:spPr/>
      <dgm:t>
        <a:bodyPr/>
        <a:lstStyle/>
        <a:p>
          <a:endParaRPr lang="en-US"/>
        </a:p>
      </dgm:t>
    </dgm:pt>
    <dgm:pt modelId="{302A2FAA-CC70-4012-8869-35F7D3A85044}" type="sibTrans" cxnId="{40957045-060A-44FE-A0F4-C7AA6444609E}">
      <dgm:prSet/>
      <dgm:spPr/>
      <dgm:t>
        <a:bodyPr/>
        <a:lstStyle/>
        <a:p>
          <a:endParaRPr lang="en-US"/>
        </a:p>
      </dgm:t>
    </dgm:pt>
    <dgm:pt modelId="{71F5918D-0154-4FD4-8271-E06B123A5D91}">
      <dgm:prSet/>
      <dgm:spPr/>
      <dgm:t>
        <a:bodyPr/>
        <a:lstStyle/>
        <a:p>
          <a:r>
            <a:rPr lang="en-US"/>
            <a:t>• Launch the app on an emulator using flutter run.</a:t>
          </a:r>
        </a:p>
      </dgm:t>
    </dgm:pt>
    <dgm:pt modelId="{1A6B49E5-3588-4449-B392-AE1B7629F905}" type="parTrans" cxnId="{0D56CCE0-89F9-47D6-BB5A-01027FF45F33}">
      <dgm:prSet/>
      <dgm:spPr/>
      <dgm:t>
        <a:bodyPr/>
        <a:lstStyle/>
        <a:p>
          <a:endParaRPr lang="en-US"/>
        </a:p>
      </dgm:t>
    </dgm:pt>
    <dgm:pt modelId="{EF6E5D23-B5C8-4A5A-8859-78CACC7D2F8C}" type="sibTrans" cxnId="{0D56CCE0-89F9-47D6-BB5A-01027FF45F33}">
      <dgm:prSet/>
      <dgm:spPr/>
      <dgm:t>
        <a:bodyPr/>
        <a:lstStyle/>
        <a:p>
          <a:endParaRPr lang="en-US"/>
        </a:p>
      </dgm:t>
    </dgm:pt>
    <dgm:pt modelId="{559652C0-E3CB-4D65-8887-B7DEA1A10AC0}" type="pres">
      <dgm:prSet presAssocID="{13C8A4D4-DCCF-43D9-8DAC-FD9F919B6725}" presName="Name0" presStyleCnt="0">
        <dgm:presLayoutVars>
          <dgm:dir/>
          <dgm:resizeHandles val="exact"/>
        </dgm:presLayoutVars>
      </dgm:prSet>
      <dgm:spPr/>
    </dgm:pt>
    <dgm:pt modelId="{6165172D-BD5D-456D-9A17-F5E1395C7B17}" type="pres">
      <dgm:prSet presAssocID="{2DD3D9DC-2F6D-4923-9FC2-B7A189155DC9}" presName="node" presStyleLbl="node1" presStyleIdx="0" presStyleCnt="11">
        <dgm:presLayoutVars>
          <dgm:bulletEnabled val="1"/>
        </dgm:presLayoutVars>
      </dgm:prSet>
      <dgm:spPr/>
    </dgm:pt>
    <dgm:pt modelId="{9CC0AEA7-52BC-476F-A6BB-70DFF4DA650A}" type="pres">
      <dgm:prSet presAssocID="{2553DC1A-4120-41C1-9620-400E65A5E1B7}" presName="sibTrans" presStyleLbl="sibTrans1D1" presStyleIdx="0" presStyleCnt="10"/>
      <dgm:spPr/>
    </dgm:pt>
    <dgm:pt modelId="{30FA80EA-17C0-4B04-91EF-4F019DF6FF92}" type="pres">
      <dgm:prSet presAssocID="{2553DC1A-4120-41C1-9620-400E65A5E1B7}" presName="connectorText" presStyleLbl="sibTrans1D1" presStyleIdx="0" presStyleCnt="10"/>
      <dgm:spPr/>
    </dgm:pt>
    <dgm:pt modelId="{EDCE07AD-9E9F-4B5D-86D9-FF273BF5B9EF}" type="pres">
      <dgm:prSet presAssocID="{8119C5FC-AE39-48E3-A197-631ED35405E7}" presName="node" presStyleLbl="node1" presStyleIdx="1" presStyleCnt="11">
        <dgm:presLayoutVars>
          <dgm:bulletEnabled val="1"/>
        </dgm:presLayoutVars>
      </dgm:prSet>
      <dgm:spPr/>
    </dgm:pt>
    <dgm:pt modelId="{73693F11-E5A4-445F-AC59-2BB7C8589788}" type="pres">
      <dgm:prSet presAssocID="{4061409C-55D0-40DD-867E-559E821440EE}" presName="sibTrans" presStyleLbl="sibTrans1D1" presStyleIdx="1" presStyleCnt="10"/>
      <dgm:spPr/>
    </dgm:pt>
    <dgm:pt modelId="{D369ED27-CDA0-4B23-BDE9-6790C78F515B}" type="pres">
      <dgm:prSet presAssocID="{4061409C-55D0-40DD-867E-559E821440EE}" presName="connectorText" presStyleLbl="sibTrans1D1" presStyleIdx="1" presStyleCnt="10"/>
      <dgm:spPr/>
    </dgm:pt>
    <dgm:pt modelId="{D5BF7080-972C-477D-A537-06F334619D64}" type="pres">
      <dgm:prSet presAssocID="{F4263F3F-1E32-4346-91CC-8983E522DA83}" presName="node" presStyleLbl="node1" presStyleIdx="2" presStyleCnt="11">
        <dgm:presLayoutVars>
          <dgm:bulletEnabled val="1"/>
        </dgm:presLayoutVars>
      </dgm:prSet>
      <dgm:spPr/>
    </dgm:pt>
    <dgm:pt modelId="{86461131-B44C-423D-87CA-E6AD12C76441}" type="pres">
      <dgm:prSet presAssocID="{E339D82D-C2F0-4545-8603-DD1101481DDC}" presName="sibTrans" presStyleLbl="sibTrans1D1" presStyleIdx="2" presStyleCnt="10"/>
      <dgm:spPr/>
    </dgm:pt>
    <dgm:pt modelId="{DFCE3180-D9D5-41BB-BE1F-EC7B10436FD7}" type="pres">
      <dgm:prSet presAssocID="{E339D82D-C2F0-4545-8603-DD1101481DDC}" presName="connectorText" presStyleLbl="sibTrans1D1" presStyleIdx="2" presStyleCnt="10"/>
      <dgm:spPr/>
    </dgm:pt>
    <dgm:pt modelId="{A99D70AA-F030-4E73-85FF-F2D548DED68B}" type="pres">
      <dgm:prSet presAssocID="{A5B3FE3C-A4D8-4D54-B837-46374E50B557}" presName="node" presStyleLbl="node1" presStyleIdx="3" presStyleCnt="11">
        <dgm:presLayoutVars>
          <dgm:bulletEnabled val="1"/>
        </dgm:presLayoutVars>
      </dgm:prSet>
      <dgm:spPr/>
    </dgm:pt>
    <dgm:pt modelId="{9BD63981-EE98-4537-84FB-8B4525139AB9}" type="pres">
      <dgm:prSet presAssocID="{E45424F0-6FEA-401D-9DAD-3AA8024188C2}" presName="sibTrans" presStyleLbl="sibTrans1D1" presStyleIdx="3" presStyleCnt="10"/>
      <dgm:spPr/>
    </dgm:pt>
    <dgm:pt modelId="{794169D9-6033-499E-B986-210500E1EE22}" type="pres">
      <dgm:prSet presAssocID="{E45424F0-6FEA-401D-9DAD-3AA8024188C2}" presName="connectorText" presStyleLbl="sibTrans1D1" presStyleIdx="3" presStyleCnt="10"/>
      <dgm:spPr/>
    </dgm:pt>
    <dgm:pt modelId="{F44BF714-DF95-489E-8AC4-DC331F91BF21}" type="pres">
      <dgm:prSet presAssocID="{BE0B9F3A-ABA2-4124-8C54-C0338C30FC56}" presName="node" presStyleLbl="node1" presStyleIdx="4" presStyleCnt="11">
        <dgm:presLayoutVars>
          <dgm:bulletEnabled val="1"/>
        </dgm:presLayoutVars>
      </dgm:prSet>
      <dgm:spPr/>
    </dgm:pt>
    <dgm:pt modelId="{2670591F-BDB1-4422-B591-E36A913F2478}" type="pres">
      <dgm:prSet presAssocID="{41239A10-793E-4CA0-962D-DF286A6FCB92}" presName="sibTrans" presStyleLbl="sibTrans1D1" presStyleIdx="4" presStyleCnt="10"/>
      <dgm:spPr/>
    </dgm:pt>
    <dgm:pt modelId="{C539D691-9218-4BD2-8951-3AE35012C3B6}" type="pres">
      <dgm:prSet presAssocID="{41239A10-793E-4CA0-962D-DF286A6FCB92}" presName="connectorText" presStyleLbl="sibTrans1D1" presStyleIdx="4" presStyleCnt="10"/>
      <dgm:spPr/>
    </dgm:pt>
    <dgm:pt modelId="{43D27231-97AE-45BF-A97B-7D5F00F7BC01}" type="pres">
      <dgm:prSet presAssocID="{9061CFED-5DFB-4AAA-9756-56B2E55D3CBD}" presName="node" presStyleLbl="node1" presStyleIdx="5" presStyleCnt="11">
        <dgm:presLayoutVars>
          <dgm:bulletEnabled val="1"/>
        </dgm:presLayoutVars>
      </dgm:prSet>
      <dgm:spPr/>
    </dgm:pt>
    <dgm:pt modelId="{24AFB4FF-A2ED-4F09-AFFE-BAF6413010EF}" type="pres">
      <dgm:prSet presAssocID="{5628FF48-C1BA-439C-ACF0-04A3951123D4}" presName="sibTrans" presStyleLbl="sibTrans1D1" presStyleIdx="5" presStyleCnt="10"/>
      <dgm:spPr/>
    </dgm:pt>
    <dgm:pt modelId="{E05CD3CA-B4DF-46AF-8E8A-5B5E0F0B8F40}" type="pres">
      <dgm:prSet presAssocID="{5628FF48-C1BA-439C-ACF0-04A3951123D4}" presName="connectorText" presStyleLbl="sibTrans1D1" presStyleIdx="5" presStyleCnt="10"/>
      <dgm:spPr/>
    </dgm:pt>
    <dgm:pt modelId="{1DE09266-B812-4158-AED7-A358E9DAC0DB}" type="pres">
      <dgm:prSet presAssocID="{28F73774-3E8F-4543-A446-A20FE9C2E400}" presName="node" presStyleLbl="node1" presStyleIdx="6" presStyleCnt="11">
        <dgm:presLayoutVars>
          <dgm:bulletEnabled val="1"/>
        </dgm:presLayoutVars>
      </dgm:prSet>
      <dgm:spPr/>
    </dgm:pt>
    <dgm:pt modelId="{ACFC1753-3679-4FBC-AE77-DD26289ED2FF}" type="pres">
      <dgm:prSet presAssocID="{CDAACBDF-B256-40D3-9637-44564E5D0037}" presName="sibTrans" presStyleLbl="sibTrans1D1" presStyleIdx="6" presStyleCnt="10"/>
      <dgm:spPr/>
    </dgm:pt>
    <dgm:pt modelId="{12C47939-CB3F-4F8C-BA95-0A5D4FA2C8DF}" type="pres">
      <dgm:prSet presAssocID="{CDAACBDF-B256-40D3-9637-44564E5D0037}" presName="connectorText" presStyleLbl="sibTrans1D1" presStyleIdx="6" presStyleCnt="10"/>
      <dgm:spPr/>
    </dgm:pt>
    <dgm:pt modelId="{0E057869-1F12-4B99-B4B7-CA0C58BA7961}" type="pres">
      <dgm:prSet presAssocID="{A8FB5DD2-45AF-4DB6-A085-D6B3E9075615}" presName="node" presStyleLbl="node1" presStyleIdx="7" presStyleCnt="11">
        <dgm:presLayoutVars>
          <dgm:bulletEnabled val="1"/>
        </dgm:presLayoutVars>
      </dgm:prSet>
      <dgm:spPr/>
    </dgm:pt>
    <dgm:pt modelId="{0530CB24-3D57-44B0-9988-8A993FC110B4}" type="pres">
      <dgm:prSet presAssocID="{53B00FA3-688D-4BF1-AF48-C5BDF5F74A3B}" presName="sibTrans" presStyleLbl="sibTrans1D1" presStyleIdx="7" presStyleCnt="10"/>
      <dgm:spPr/>
    </dgm:pt>
    <dgm:pt modelId="{813B1984-F2D5-44AE-A202-A3895C4C3A6B}" type="pres">
      <dgm:prSet presAssocID="{53B00FA3-688D-4BF1-AF48-C5BDF5F74A3B}" presName="connectorText" presStyleLbl="sibTrans1D1" presStyleIdx="7" presStyleCnt="10"/>
      <dgm:spPr/>
    </dgm:pt>
    <dgm:pt modelId="{2B86BFAC-51A1-43AC-BFEB-CF8CE05AD0F1}" type="pres">
      <dgm:prSet presAssocID="{71BDF628-3F5D-40D2-B0C1-F685357A02FD}" presName="node" presStyleLbl="node1" presStyleIdx="8" presStyleCnt="11">
        <dgm:presLayoutVars>
          <dgm:bulletEnabled val="1"/>
        </dgm:presLayoutVars>
      </dgm:prSet>
      <dgm:spPr/>
    </dgm:pt>
    <dgm:pt modelId="{7EFC62FD-327A-429C-8368-0FCC374265CB}" type="pres">
      <dgm:prSet presAssocID="{CB30B251-D92A-472C-A349-7F1D7B10D22F}" presName="sibTrans" presStyleLbl="sibTrans1D1" presStyleIdx="8" presStyleCnt="10"/>
      <dgm:spPr/>
    </dgm:pt>
    <dgm:pt modelId="{53FAB0F0-099B-4D11-B17F-A84605EB54EC}" type="pres">
      <dgm:prSet presAssocID="{CB30B251-D92A-472C-A349-7F1D7B10D22F}" presName="connectorText" presStyleLbl="sibTrans1D1" presStyleIdx="8" presStyleCnt="10"/>
      <dgm:spPr/>
    </dgm:pt>
    <dgm:pt modelId="{61C07F4B-FCE7-4CF0-A9E4-BD6D7C092621}" type="pres">
      <dgm:prSet presAssocID="{6F8949A7-537D-48A9-A0F0-3415D1CAB353}" presName="node" presStyleLbl="node1" presStyleIdx="9" presStyleCnt="11">
        <dgm:presLayoutVars>
          <dgm:bulletEnabled val="1"/>
        </dgm:presLayoutVars>
      </dgm:prSet>
      <dgm:spPr/>
    </dgm:pt>
    <dgm:pt modelId="{F74A8CA2-006F-42B2-8355-A11058DA91F3}" type="pres">
      <dgm:prSet presAssocID="{302A2FAA-CC70-4012-8869-35F7D3A85044}" presName="sibTrans" presStyleLbl="sibTrans1D1" presStyleIdx="9" presStyleCnt="10"/>
      <dgm:spPr/>
    </dgm:pt>
    <dgm:pt modelId="{D76019BD-984E-4B04-92CC-BDBADCD6B659}" type="pres">
      <dgm:prSet presAssocID="{302A2FAA-CC70-4012-8869-35F7D3A85044}" presName="connectorText" presStyleLbl="sibTrans1D1" presStyleIdx="9" presStyleCnt="10"/>
      <dgm:spPr/>
    </dgm:pt>
    <dgm:pt modelId="{DF24DBDC-3F65-4118-A718-694AD4A3BF10}" type="pres">
      <dgm:prSet presAssocID="{71F5918D-0154-4FD4-8271-E06B123A5D91}" presName="node" presStyleLbl="node1" presStyleIdx="10" presStyleCnt="11">
        <dgm:presLayoutVars>
          <dgm:bulletEnabled val="1"/>
        </dgm:presLayoutVars>
      </dgm:prSet>
      <dgm:spPr/>
    </dgm:pt>
  </dgm:ptLst>
  <dgm:cxnLst>
    <dgm:cxn modelId="{2BE51707-510B-4B53-969E-A63C9D95EFBE}" type="presOf" srcId="{CB30B251-D92A-472C-A349-7F1D7B10D22F}" destId="{53FAB0F0-099B-4D11-B17F-A84605EB54EC}" srcOrd="1" destOrd="0" presId="urn:microsoft.com/office/officeart/2016/7/layout/RepeatingBendingProcessNew"/>
    <dgm:cxn modelId="{2DE4CB08-31C1-4A8A-8C65-7D8973C1DAD4}" type="presOf" srcId="{CB30B251-D92A-472C-A349-7F1D7B10D22F}" destId="{7EFC62FD-327A-429C-8368-0FCC374265CB}" srcOrd="0" destOrd="0" presId="urn:microsoft.com/office/officeart/2016/7/layout/RepeatingBendingProcessNew"/>
    <dgm:cxn modelId="{4B073909-1A99-41B5-9472-A37B49665F24}" type="presOf" srcId="{4061409C-55D0-40DD-867E-559E821440EE}" destId="{D369ED27-CDA0-4B23-BDE9-6790C78F515B}" srcOrd="1" destOrd="0" presId="urn:microsoft.com/office/officeart/2016/7/layout/RepeatingBendingProcessNew"/>
    <dgm:cxn modelId="{27E42C0B-5836-4BA4-A90B-DDE5B2155C9A}" type="presOf" srcId="{41239A10-793E-4CA0-962D-DF286A6FCB92}" destId="{2670591F-BDB1-4422-B591-E36A913F2478}" srcOrd="0" destOrd="0" presId="urn:microsoft.com/office/officeart/2016/7/layout/RepeatingBendingProcessNew"/>
    <dgm:cxn modelId="{2B74150F-1C25-4BDD-AC40-02B8FCC7948E}" srcId="{13C8A4D4-DCCF-43D9-8DAC-FD9F919B6725}" destId="{2DD3D9DC-2F6D-4923-9FC2-B7A189155DC9}" srcOrd="0" destOrd="0" parTransId="{236767F1-8484-4DF3-998D-E10F6CD9BE01}" sibTransId="{2553DC1A-4120-41C1-9620-400E65A5E1B7}"/>
    <dgm:cxn modelId="{F1BAA01A-0EED-42AE-B4C6-8146BAB17135}" srcId="{13C8A4D4-DCCF-43D9-8DAC-FD9F919B6725}" destId="{8119C5FC-AE39-48E3-A197-631ED35405E7}" srcOrd="1" destOrd="0" parTransId="{8D6F0BCE-C67C-43C1-BD85-979ABD7E9CE9}" sibTransId="{4061409C-55D0-40DD-867E-559E821440EE}"/>
    <dgm:cxn modelId="{728EAE20-88E0-4308-BC0E-0045D5264697}" type="presOf" srcId="{302A2FAA-CC70-4012-8869-35F7D3A85044}" destId="{F74A8CA2-006F-42B2-8355-A11058DA91F3}" srcOrd="0" destOrd="0" presId="urn:microsoft.com/office/officeart/2016/7/layout/RepeatingBendingProcessNew"/>
    <dgm:cxn modelId="{5230BA23-5D04-491B-90F2-F3D6B949A6E1}" srcId="{13C8A4D4-DCCF-43D9-8DAC-FD9F919B6725}" destId="{A5B3FE3C-A4D8-4D54-B837-46374E50B557}" srcOrd="3" destOrd="0" parTransId="{DBC99021-1670-4D07-85C9-0F4437C19D62}" sibTransId="{E45424F0-6FEA-401D-9DAD-3AA8024188C2}"/>
    <dgm:cxn modelId="{18B48E5B-8F74-4FE7-A250-A181A508062E}" type="presOf" srcId="{BE0B9F3A-ABA2-4124-8C54-C0338C30FC56}" destId="{F44BF714-DF95-489E-8AC4-DC331F91BF21}" srcOrd="0" destOrd="0" presId="urn:microsoft.com/office/officeart/2016/7/layout/RepeatingBendingProcessNew"/>
    <dgm:cxn modelId="{5DB15E41-0CD3-4081-858A-2DF15E2A0155}" type="presOf" srcId="{E45424F0-6FEA-401D-9DAD-3AA8024188C2}" destId="{794169D9-6033-499E-B986-210500E1EE22}" srcOrd="1" destOrd="0" presId="urn:microsoft.com/office/officeart/2016/7/layout/RepeatingBendingProcessNew"/>
    <dgm:cxn modelId="{AA84C863-2BC5-4B38-8168-11AEFFC7A628}" type="presOf" srcId="{53B00FA3-688D-4BF1-AF48-C5BDF5F74A3B}" destId="{813B1984-F2D5-44AE-A202-A3895C4C3A6B}" srcOrd="1" destOrd="0" presId="urn:microsoft.com/office/officeart/2016/7/layout/RepeatingBendingProcessNew"/>
    <dgm:cxn modelId="{7754A244-E9D6-4F26-A487-A6AA3AE7B959}" type="presOf" srcId="{4061409C-55D0-40DD-867E-559E821440EE}" destId="{73693F11-E5A4-445F-AC59-2BB7C8589788}" srcOrd="0" destOrd="0" presId="urn:microsoft.com/office/officeart/2016/7/layout/RepeatingBendingProcessNew"/>
    <dgm:cxn modelId="{40957045-060A-44FE-A0F4-C7AA6444609E}" srcId="{13C8A4D4-DCCF-43D9-8DAC-FD9F919B6725}" destId="{6F8949A7-537D-48A9-A0F0-3415D1CAB353}" srcOrd="9" destOrd="0" parTransId="{F9B38034-AB98-4DE9-91D0-BDAB44ABE512}" sibTransId="{302A2FAA-CC70-4012-8869-35F7D3A85044}"/>
    <dgm:cxn modelId="{03DA9947-A634-4544-93F5-736FE83686BD}" type="presOf" srcId="{CDAACBDF-B256-40D3-9637-44564E5D0037}" destId="{ACFC1753-3679-4FBC-AE77-DD26289ED2FF}" srcOrd="0" destOrd="0" presId="urn:microsoft.com/office/officeart/2016/7/layout/RepeatingBendingProcessNew"/>
    <dgm:cxn modelId="{E7EDC754-55DF-48D5-AEC4-3FDC6AA1292E}" type="presOf" srcId="{5628FF48-C1BA-439C-ACF0-04A3951123D4}" destId="{24AFB4FF-A2ED-4F09-AFFE-BAF6413010EF}" srcOrd="0" destOrd="0" presId="urn:microsoft.com/office/officeart/2016/7/layout/RepeatingBendingProcessNew"/>
    <dgm:cxn modelId="{EAAB5475-06B5-4D00-A9C1-8C2034E9C13D}" srcId="{13C8A4D4-DCCF-43D9-8DAC-FD9F919B6725}" destId="{71BDF628-3F5D-40D2-B0C1-F685357A02FD}" srcOrd="8" destOrd="0" parTransId="{1B564A65-0606-4065-B50E-7B33E724CE35}" sibTransId="{CB30B251-D92A-472C-A349-7F1D7B10D22F}"/>
    <dgm:cxn modelId="{930B7875-6D01-428F-9CF0-1336792B01F5}" srcId="{13C8A4D4-DCCF-43D9-8DAC-FD9F919B6725}" destId="{28F73774-3E8F-4543-A446-A20FE9C2E400}" srcOrd="6" destOrd="0" parTransId="{6BEF2DAD-2647-4A2D-87EE-2133BF01D020}" sibTransId="{CDAACBDF-B256-40D3-9637-44564E5D0037}"/>
    <dgm:cxn modelId="{ED362457-1196-4665-B7E9-3713A3DCF02C}" type="presOf" srcId="{E339D82D-C2F0-4545-8603-DD1101481DDC}" destId="{86461131-B44C-423D-87CA-E6AD12C76441}" srcOrd="0" destOrd="0" presId="urn:microsoft.com/office/officeart/2016/7/layout/RepeatingBendingProcessNew"/>
    <dgm:cxn modelId="{CE103E7B-A19A-4B14-B080-8E6FB5CF6C9C}" type="presOf" srcId="{CDAACBDF-B256-40D3-9637-44564E5D0037}" destId="{12C47939-CB3F-4F8C-BA95-0A5D4FA2C8DF}" srcOrd="1" destOrd="0" presId="urn:microsoft.com/office/officeart/2016/7/layout/RepeatingBendingProcessNew"/>
    <dgm:cxn modelId="{82E06E83-51CE-4889-B17F-DBF9BBB7F171}" type="presOf" srcId="{28F73774-3E8F-4543-A446-A20FE9C2E400}" destId="{1DE09266-B812-4158-AED7-A358E9DAC0DB}" srcOrd="0" destOrd="0" presId="urn:microsoft.com/office/officeart/2016/7/layout/RepeatingBendingProcessNew"/>
    <dgm:cxn modelId="{2CBF158A-45F5-404B-9127-80B777C83828}" srcId="{13C8A4D4-DCCF-43D9-8DAC-FD9F919B6725}" destId="{9061CFED-5DFB-4AAA-9756-56B2E55D3CBD}" srcOrd="5" destOrd="0" parTransId="{A5D7940F-D57C-4717-8823-16FC9319CB36}" sibTransId="{5628FF48-C1BA-439C-ACF0-04A3951123D4}"/>
    <dgm:cxn modelId="{FC8D9A90-7CFF-4014-8CC9-F8A5A75EB1C3}" type="presOf" srcId="{53B00FA3-688D-4BF1-AF48-C5BDF5F74A3B}" destId="{0530CB24-3D57-44B0-9988-8A993FC110B4}" srcOrd="0" destOrd="0" presId="urn:microsoft.com/office/officeart/2016/7/layout/RepeatingBendingProcessNew"/>
    <dgm:cxn modelId="{9EB59696-0EE9-41D4-B1CC-D97D29A21CD6}" type="presOf" srcId="{71BDF628-3F5D-40D2-B0C1-F685357A02FD}" destId="{2B86BFAC-51A1-43AC-BFEB-CF8CE05AD0F1}" srcOrd="0" destOrd="0" presId="urn:microsoft.com/office/officeart/2016/7/layout/RepeatingBendingProcessNew"/>
    <dgm:cxn modelId="{A81ECD98-8399-441D-A6D2-BFB38D2564CE}" type="presOf" srcId="{302A2FAA-CC70-4012-8869-35F7D3A85044}" destId="{D76019BD-984E-4B04-92CC-BDBADCD6B659}" srcOrd="1" destOrd="0" presId="urn:microsoft.com/office/officeart/2016/7/layout/RepeatingBendingProcessNew"/>
    <dgm:cxn modelId="{DA714F9A-9E34-44A1-9B53-1C71A2C7E853}" srcId="{13C8A4D4-DCCF-43D9-8DAC-FD9F919B6725}" destId="{A8FB5DD2-45AF-4DB6-A085-D6B3E9075615}" srcOrd="7" destOrd="0" parTransId="{98F8DDA2-84FA-4793-BB1E-C5A83317E781}" sibTransId="{53B00FA3-688D-4BF1-AF48-C5BDF5F74A3B}"/>
    <dgm:cxn modelId="{9BF81FA4-6DBC-4DF8-8BAD-5631EDEDAC5A}" type="presOf" srcId="{13C8A4D4-DCCF-43D9-8DAC-FD9F919B6725}" destId="{559652C0-E3CB-4D65-8887-B7DEA1A10AC0}" srcOrd="0" destOrd="0" presId="urn:microsoft.com/office/officeart/2016/7/layout/RepeatingBendingProcessNew"/>
    <dgm:cxn modelId="{4AAEA7A7-917A-46F0-ACAA-2FE73259F526}" srcId="{13C8A4D4-DCCF-43D9-8DAC-FD9F919B6725}" destId="{F4263F3F-1E32-4346-91CC-8983E522DA83}" srcOrd="2" destOrd="0" parTransId="{DE4C9311-77B9-4E35-892B-A850B7712BB9}" sibTransId="{E339D82D-C2F0-4545-8603-DD1101481DDC}"/>
    <dgm:cxn modelId="{11A333AA-A309-4D38-8236-164B42E26F2D}" type="presOf" srcId="{2553DC1A-4120-41C1-9620-400E65A5E1B7}" destId="{9CC0AEA7-52BC-476F-A6BB-70DFF4DA650A}" srcOrd="0" destOrd="0" presId="urn:microsoft.com/office/officeart/2016/7/layout/RepeatingBendingProcessNew"/>
    <dgm:cxn modelId="{B1EFE4AE-5D3B-4D86-B374-299AFDBDDCAD}" type="presOf" srcId="{41239A10-793E-4CA0-962D-DF286A6FCB92}" destId="{C539D691-9218-4BD2-8951-3AE35012C3B6}" srcOrd="1" destOrd="0" presId="urn:microsoft.com/office/officeart/2016/7/layout/RepeatingBendingProcessNew"/>
    <dgm:cxn modelId="{17189DC3-F625-45A7-AA4F-5A97EEE75FEB}" type="presOf" srcId="{A5B3FE3C-A4D8-4D54-B837-46374E50B557}" destId="{A99D70AA-F030-4E73-85FF-F2D548DED68B}" srcOrd="0" destOrd="0" presId="urn:microsoft.com/office/officeart/2016/7/layout/RepeatingBendingProcessNew"/>
    <dgm:cxn modelId="{1DB188C6-8716-4F39-95A4-1EF6FB7781C8}" type="presOf" srcId="{F4263F3F-1E32-4346-91CC-8983E522DA83}" destId="{D5BF7080-972C-477D-A537-06F334619D64}" srcOrd="0" destOrd="0" presId="urn:microsoft.com/office/officeart/2016/7/layout/RepeatingBendingProcessNew"/>
    <dgm:cxn modelId="{A95537CC-767D-4593-9B70-103E935223CD}" type="presOf" srcId="{E45424F0-6FEA-401D-9DAD-3AA8024188C2}" destId="{9BD63981-EE98-4537-84FB-8B4525139AB9}" srcOrd="0" destOrd="0" presId="urn:microsoft.com/office/officeart/2016/7/layout/RepeatingBendingProcessNew"/>
    <dgm:cxn modelId="{FD47DECC-4AB2-41B8-81A9-F122990BCC8F}" type="presOf" srcId="{71F5918D-0154-4FD4-8271-E06B123A5D91}" destId="{DF24DBDC-3F65-4118-A718-694AD4A3BF10}" srcOrd="0" destOrd="0" presId="urn:microsoft.com/office/officeart/2016/7/layout/RepeatingBendingProcessNew"/>
    <dgm:cxn modelId="{6579B9CD-247C-45C2-BBC5-0D482966D0D8}" type="presOf" srcId="{A8FB5DD2-45AF-4DB6-A085-D6B3E9075615}" destId="{0E057869-1F12-4B99-B4B7-CA0C58BA7961}" srcOrd="0" destOrd="0" presId="urn:microsoft.com/office/officeart/2016/7/layout/RepeatingBendingProcessNew"/>
    <dgm:cxn modelId="{195621CF-358E-49C0-AC21-2E93A952F317}" type="presOf" srcId="{6F8949A7-537D-48A9-A0F0-3415D1CAB353}" destId="{61C07F4B-FCE7-4CF0-A9E4-BD6D7C092621}" srcOrd="0" destOrd="0" presId="urn:microsoft.com/office/officeart/2016/7/layout/RepeatingBendingProcessNew"/>
    <dgm:cxn modelId="{F83DDCD2-CB75-4D51-A5F7-79AA841841EA}" type="presOf" srcId="{2DD3D9DC-2F6D-4923-9FC2-B7A189155DC9}" destId="{6165172D-BD5D-456D-9A17-F5E1395C7B17}" srcOrd="0" destOrd="0" presId="urn:microsoft.com/office/officeart/2016/7/layout/RepeatingBendingProcessNew"/>
    <dgm:cxn modelId="{0D56CCE0-89F9-47D6-BB5A-01027FF45F33}" srcId="{13C8A4D4-DCCF-43D9-8DAC-FD9F919B6725}" destId="{71F5918D-0154-4FD4-8271-E06B123A5D91}" srcOrd="10" destOrd="0" parTransId="{1A6B49E5-3588-4449-B392-AE1B7629F905}" sibTransId="{EF6E5D23-B5C8-4A5A-8859-78CACC7D2F8C}"/>
    <dgm:cxn modelId="{6B7438E2-10B8-40B5-84C6-30D01ACF22A6}" type="presOf" srcId="{9061CFED-5DFB-4AAA-9756-56B2E55D3CBD}" destId="{43D27231-97AE-45BF-A97B-7D5F00F7BC01}" srcOrd="0" destOrd="0" presId="urn:microsoft.com/office/officeart/2016/7/layout/RepeatingBendingProcessNew"/>
    <dgm:cxn modelId="{EFD478E3-6914-4D79-B877-25B9D4F19424}" type="presOf" srcId="{E339D82D-C2F0-4545-8603-DD1101481DDC}" destId="{DFCE3180-D9D5-41BB-BE1F-EC7B10436FD7}" srcOrd="1" destOrd="0" presId="urn:microsoft.com/office/officeart/2016/7/layout/RepeatingBendingProcessNew"/>
    <dgm:cxn modelId="{89C155EA-13E9-49FF-82B7-8A7A1EB0DE20}" type="presOf" srcId="{5628FF48-C1BA-439C-ACF0-04A3951123D4}" destId="{E05CD3CA-B4DF-46AF-8E8A-5B5E0F0B8F40}" srcOrd="1" destOrd="0" presId="urn:microsoft.com/office/officeart/2016/7/layout/RepeatingBendingProcessNew"/>
    <dgm:cxn modelId="{27153EEB-A011-46EE-A84A-FB01369ABBB0}" type="presOf" srcId="{8119C5FC-AE39-48E3-A197-631ED35405E7}" destId="{EDCE07AD-9E9F-4B5D-86D9-FF273BF5B9EF}" srcOrd="0" destOrd="0" presId="urn:microsoft.com/office/officeart/2016/7/layout/RepeatingBendingProcessNew"/>
    <dgm:cxn modelId="{57CFBFF7-8EC0-4AFE-9E24-7DA0149D80BF}" srcId="{13C8A4D4-DCCF-43D9-8DAC-FD9F919B6725}" destId="{BE0B9F3A-ABA2-4124-8C54-C0338C30FC56}" srcOrd="4" destOrd="0" parTransId="{181E2069-CEA0-418A-991E-DA15591A60B0}" sibTransId="{41239A10-793E-4CA0-962D-DF286A6FCB92}"/>
    <dgm:cxn modelId="{FF6457F9-CF8A-4D7E-9094-3375E0C7C1F5}" type="presOf" srcId="{2553DC1A-4120-41C1-9620-400E65A5E1B7}" destId="{30FA80EA-17C0-4B04-91EF-4F019DF6FF92}" srcOrd="1" destOrd="0" presId="urn:microsoft.com/office/officeart/2016/7/layout/RepeatingBendingProcessNew"/>
    <dgm:cxn modelId="{48A433C0-44D1-4639-A7D7-2900FA936A0D}" type="presParOf" srcId="{559652C0-E3CB-4D65-8887-B7DEA1A10AC0}" destId="{6165172D-BD5D-456D-9A17-F5E1395C7B17}" srcOrd="0" destOrd="0" presId="urn:microsoft.com/office/officeart/2016/7/layout/RepeatingBendingProcessNew"/>
    <dgm:cxn modelId="{12BC7B37-095F-4421-8F3A-5E3CCC4CB357}" type="presParOf" srcId="{559652C0-E3CB-4D65-8887-B7DEA1A10AC0}" destId="{9CC0AEA7-52BC-476F-A6BB-70DFF4DA650A}" srcOrd="1" destOrd="0" presId="urn:microsoft.com/office/officeart/2016/7/layout/RepeatingBendingProcessNew"/>
    <dgm:cxn modelId="{F02C4521-BB04-46FD-802D-793C5C22E4C9}" type="presParOf" srcId="{9CC0AEA7-52BC-476F-A6BB-70DFF4DA650A}" destId="{30FA80EA-17C0-4B04-91EF-4F019DF6FF92}" srcOrd="0" destOrd="0" presId="urn:microsoft.com/office/officeart/2016/7/layout/RepeatingBendingProcessNew"/>
    <dgm:cxn modelId="{BFA7C2BC-E6FD-43E3-960B-69354CBBE927}" type="presParOf" srcId="{559652C0-E3CB-4D65-8887-B7DEA1A10AC0}" destId="{EDCE07AD-9E9F-4B5D-86D9-FF273BF5B9EF}" srcOrd="2" destOrd="0" presId="urn:microsoft.com/office/officeart/2016/7/layout/RepeatingBendingProcessNew"/>
    <dgm:cxn modelId="{983766BB-D51E-45BA-941B-59A58A91C0C7}" type="presParOf" srcId="{559652C0-E3CB-4D65-8887-B7DEA1A10AC0}" destId="{73693F11-E5A4-445F-AC59-2BB7C8589788}" srcOrd="3" destOrd="0" presId="urn:microsoft.com/office/officeart/2016/7/layout/RepeatingBendingProcessNew"/>
    <dgm:cxn modelId="{42AA9F13-8842-49D7-AF1F-71977E37DD05}" type="presParOf" srcId="{73693F11-E5A4-445F-AC59-2BB7C8589788}" destId="{D369ED27-CDA0-4B23-BDE9-6790C78F515B}" srcOrd="0" destOrd="0" presId="urn:microsoft.com/office/officeart/2016/7/layout/RepeatingBendingProcessNew"/>
    <dgm:cxn modelId="{B1349377-390D-437E-B46C-D902D0AE0CC1}" type="presParOf" srcId="{559652C0-E3CB-4D65-8887-B7DEA1A10AC0}" destId="{D5BF7080-972C-477D-A537-06F334619D64}" srcOrd="4" destOrd="0" presId="urn:microsoft.com/office/officeart/2016/7/layout/RepeatingBendingProcessNew"/>
    <dgm:cxn modelId="{789B0C6A-06CB-42FB-B41F-99D649E12172}" type="presParOf" srcId="{559652C0-E3CB-4D65-8887-B7DEA1A10AC0}" destId="{86461131-B44C-423D-87CA-E6AD12C76441}" srcOrd="5" destOrd="0" presId="urn:microsoft.com/office/officeart/2016/7/layout/RepeatingBendingProcessNew"/>
    <dgm:cxn modelId="{A3888651-873E-474A-A42C-73A67CD684E3}" type="presParOf" srcId="{86461131-B44C-423D-87CA-E6AD12C76441}" destId="{DFCE3180-D9D5-41BB-BE1F-EC7B10436FD7}" srcOrd="0" destOrd="0" presId="urn:microsoft.com/office/officeart/2016/7/layout/RepeatingBendingProcessNew"/>
    <dgm:cxn modelId="{907CB03B-801A-4D48-BA46-967766408164}" type="presParOf" srcId="{559652C0-E3CB-4D65-8887-B7DEA1A10AC0}" destId="{A99D70AA-F030-4E73-85FF-F2D548DED68B}" srcOrd="6" destOrd="0" presId="urn:microsoft.com/office/officeart/2016/7/layout/RepeatingBendingProcessNew"/>
    <dgm:cxn modelId="{4927D0E5-B0F4-4398-AE97-F8048B7F4AB7}" type="presParOf" srcId="{559652C0-E3CB-4D65-8887-B7DEA1A10AC0}" destId="{9BD63981-EE98-4537-84FB-8B4525139AB9}" srcOrd="7" destOrd="0" presId="urn:microsoft.com/office/officeart/2016/7/layout/RepeatingBendingProcessNew"/>
    <dgm:cxn modelId="{80766D8F-248F-4F5A-BACD-72484C83988F}" type="presParOf" srcId="{9BD63981-EE98-4537-84FB-8B4525139AB9}" destId="{794169D9-6033-499E-B986-210500E1EE22}" srcOrd="0" destOrd="0" presId="urn:microsoft.com/office/officeart/2016/7/layout/RepeatingBendingProcessNew"/>
    <dgm:cxn modelId="{9A4E8BF1-31B4-4A26-B626-E207575C6509}" type="presParOf" srcId="{559652C0-E3CB-4D65-8887-B7DEA1A10AC0}" destId="{F44BF714-DF95-489E-8AC4-DC331F91BF21}" srcOrd="8" destOrd="0" presId="urn:microsoft.com/office/officeart/2016/7/layout/RepeatingBendingProcessNew"/>
    <dgm:cxn modelId="{E0BE3E48-ED8A-4DBD-B9CE-A61219596B07}" type="presParOf" srcId="{559652C0-E3CB-4D65-8887-B7DEA1A10AC0}" destId="{2670591F-BDB1-4422-B591-E36A913F2478}" srcOrd="9" destOrd="0" presId="urn:microsoft.com/office/officeart/2016/7/layout/RepeatingBendingProcessNew"/>
    <dgm:cxn modelId="{C50A938E-1825-45B2-9F5D-1454D0C109C9}" type="presParOf" srcId="{2670591F-BDB1-4422-B591-E36A913F2478}" destId="{C539D691-9218-4BD2-8951-3AE35012C3B6}" srcOrd="0" destOrd="0" presId="urn:microsoft.com/office/officeart/2016/7/layout/RepeatingBendingProcessNew"/>
    <dgm:cxn modelId="{A7B5EE7F-A609-4A23-99BC-6B5CC6F7046F}" type="presParOf" srcId="{559652C0-E3CB-4D65-8887-B7DEA1A10AC0}" destId="{43D27231-97AE-45BF-A97B-7D5F00F7BC01}" srcOrd="10" destOrd="0" presId="urn:microsoft.com/office/officeart/2016/7/layout/RepeatingBendingProcessNew"/>
    <dgm:cxn modelId="{E5010142-486B-4453-B2A8-D6DE9C3F10AC}" type="presParOf" srcId="{559652C0-E3CB-4D65-8887-B7DEA1A10AC0}" destId="{24AFB4FF-A2ED-4F09-AFFE-BAF6413010EF}" srcOrd="11" destOrd="0" presId="urn:microsoft.com/office/officeart/2016/7/layout/RepeatingBendingProcessNew"/>
    <dgm:cxn modelId="{517EB050-B844-4C45-A5DB-BB8331C34CF3}" type="presParOf" srcId="{24AFB4FF-A2ED-4F09-AFFE-BAF6413010EF}" destId="{E05CD3CA-B4DF-46AF-8E8A-5B5E0F0B8F40}" srcOrd="0" destOrd="0" presId="urn:microsoft.com/office/officeart/2016/7/layout/RepeatingBendingProcessNew"/>
    <dgm:cxn modelId="{621D619C-70D0-4EDB-80F1-9ADACBFE8183}" type="presParOf" srcId="{559652C0-E3CB-4D65-8887-B7DEA1A10AC0}" destId="{1DE09266-B812-4158-AED7-A358E9DAC0DB}" srcOrd="12" destOrd="0" presId="urn:microsoft.com/office/officeart/2016/7/layout/RepeatingBendingProcessNew"/>
    <dgm:cxn modelId="{8F80C8A8-356B-4636-9C87-4C07FCD19034}" type="presParOf" srcId="{559652C0-E3CB-4D65-8887-B7DEA1A10AC0}" destId="{ACFC1753-3679-4FBC-AE77-DD26289ED2FF}" srcOrd="13" destOrd="0" presId="urn:microsoft.com/office/officeart/2016/7/layout/RepeatingBendingProcessNew"/>
    <dgm:cxn modelId="{F91B5A96-CFE3-4260-AD19-B475A51D0887}" type="presParOf" srcId="{ACFC1753-3679-4FBC-AE77-DD26289ED2FF}" destId="{12C47939-CB3F-4F8C-BA95-0A5D4FA2C8DF}" srcOrd="0" destOrd="0" presId="urn:microsoft.com/office/officeart/2016/7/layout/RepeatingBendingProcessNew"/>
    <dgm:cxn modelId="{1EC18532-3696-4E4B-9B7B-6606E2E8FB7C}" type="presParOf" srcId="{559652C0-E3CB-4D65-8887-B7DEA1A10AC0}" destId="{0E057869-1F12-4B99-B4B7-CA0C58BA7961}" srcOrd="14" destOrd="0" presId="urn:microsoft.com/office/officeart/2016/7/layout/RepeatingBendingProcessNew"/>
    <dgm:cxn modelId="{C672002E-24A0-4178-8DA9-7EEBFBC745B2}" type="presParOf" srcId="{559652C0-E3CB-4D65-8887-B7DEA1A10AC0}" destId="{0530CB24-3D57-44B0-9988-8A993FC110B4}" srcOrd="15" destOrd="0" presId="urn:microsoft.com/office/officeart/2016/7/layout/RepeatingBendingProcessNew"/>
    <dgm:cxn modelId="{3FB99907-910A-47C0-95DA-62390245895F}" type="presParOf" srcId="{0530CB24-3D57-44B0-9988-8A993FC110B4}" destId="{813B1984-F2D5-44AE-A202-A3895C4C3A6B}" srcOrd="0" destOrd="0" presId="urn:microsoft.com/office/officeart/2016/7/layout/RepeatingBendingProcessNew"/>
    <dgm:cxn modelId="{B2DB806B-8884-4AA8-8F18-842A5D04354F}" type="presParOf" srcId="{559652C0-E3CB-4D65-8887-B7DEA1A10AC0}" destId="{2B86BFAC-51A1-43AC-BFEB-CF8CE05AD0F1}" srcOrd="16" destOrd="0" presId="urn:microsoft.com/office/officeart/2016/7/layout/RepeatingBendingProcessNew"/>
    <dgm:cxn modelId="{0B2B92BA-8B4C-4D46-8F3E-5574BE071F76}" type="presParOf" srcId="{559652C0-E3CB-4D65-8887-B7DEA1A10AC0}" destId="{7EFC62FD-327A-429C-8368-0FCC374265CB}" srcOrd="17" destOrd="0" presId="urn:microsoft.com/office/officeart/2016/7/layout/RepeatingBendingProcessNew"/>
    <dgm:cxn modelId="{35AC6254-6D0E-4DD5-AC85-1AE7DCE34DAF}" type="presParOf" srcId="{7EFC62FD-327A-429C-8368-0FCC374265CB}" destId="{53FAB0F0-099B-4D11-B17F-A84605EB54EC}" srcOrd="0" destOrd="0" presId="urn:microsoft.com/office/officeart/2016/7/layout/RepeatingBendingProcessNew"/>
    <dgm:cxn modelId="{6A7B2373-5EEB-42DE-A4F2-A6CF9ED923EB}" type="presParOf" srcId="{559652C0-E3CB-4D65-8887-B7DEA1A10AC0}" destId="{61C07F4B-FCE7-4CF0-A9E4-BD6D7C092621}" srcOrd="18" destOrd="0" presId="urn:microsoft.com/office/officeart/2016/7/layout/RepeatingBendingProcessNew"/>
    <dgm:cxn modelId="{EA8CA9A9-145F-4227-B46C-3ED157A3FF7C}" type="presParOf" srcId="{559652C0-E3CB-4D65-8887-B7DEA1A10AC0}" destId="{F74A8CA2-006F-42B2-8355-A11058DA91F3}" srcOrd="19" destOrd="0" presId="urn:microsoft.com/office/officeart/2016/7/layout/RepeatingBendingProcessNew"/>
    <dgm:cxn modelId="{10835726-0C6F-498B-A09E-2A80FB1F6967}" type="presParOf" srcId="{F74A8CA2-006F-42B2-8355-A11058DA91F3}" destId="{D76019BD-984E-4B04-92CC-BDBADCD6B659}" srcOrd="0" destOrd="0" presId="urn:microsoft.com/office/officeart/2016/7/layout/RepeatingBendingProcessNew"/>
    <dgm:cxn modelId="{DBECBF4C-C0CF-45BE-9D6A-A38984A42989}" type="presParOf" srcId="{559652C0-E3CB-4D65-8887-B7DEA1A10AC0}" destId="{DF24DBDC-3F65-4118-A718-694AD4A3BF10}" srcOrd="2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C0AEA7-52BC-476F-A6BB-70DFF4DA650A}">
      <dsp:nvSpPr>
        <dsp:cNvPr id="0" name=""/>
        <dsp:cNvSpPr/>
      </dsp:nvSpPr>
      <dsp:spPr>
        <a:xfrm>
          <a:off x="2484337" y="486433"/>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1985" y="530122"/>
        <a:ext cx="20310" cy="4062"/>
      </dsp:txXfrm>
    </dsp:sp>
    <dsp:sp modelId="{6165172D-BD5D-456D-9A17-F5E1395C7B17}">
      <dsp:nvSpPr>
        <dsp:cNvPr id="0" name=""/>
        <dsp:cNvSpPr/>
      </dsp:nvSpPr>
      <dsp:spPr>
        <a:xfrm>
          <a:off x="720023" y="2319"/>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 Install Xcode from the Mac App Store if you're on macOS.</a:t>
          </a:r>
        </a:p>
      </dsp:txBody>
      <dsp:txXfrm>
        <a:off x="720023" y="2319"/>
        <a:ext cx="1766113" cy="1059668"/>
      </dsp:txXfrm>
    </dsp:sp>
    <dsp:sp modelId="{73693F11-E5A4-445F-AC59-2BB7C8589788}">
      <dsp:nvSpPr>
        <dsp:cNvPr id="0" name=""/>
        <dsp:cNvSpPr/>
      </dsp:nvSpPr>
      <dsp:spPr>
        <a:xfrm>
          <a:off x="4656656" y="486433"/>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4304" y="530122"/>
        <a:ext cx="20310" cy="4062"/>
      </dsp:txXfrm>
    </dsp:sp>
    <dsp:sp modelId="{EDCE07AD-9E9F-4B5D-86D9-FF273BF5B9EF}">
      <dsp:nvSpPr>
        <dsp:cNvPr id="0" name=""/>
        <dsp:cNvSpPr/>
      </dsp:nvSpPr>
      <dsp:spPr>
        <a:xfrm>
          <a:off x="2892343" y="2319"/>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 Xcode includes the necessary tools and simulators for iOS development.</a:t>
          </a:r>
        </a:p>
      </dsp:txBody>
      <dsp:txXfrm>
        <a:off x="2892343" y="2319"/>
        <a:ext cx="1766113" cy="1059668"/>
      </dsp:txXfrm>
    </dsp:sp>
    <dsp:sp modelId="{86461131-B44C-423D-87CA-E6AD12C76441}">
      <dsp:nvSpPr>
        <dsp:cNvPr id="0" name=""/>
        <dsp:cNvSpPr/>
      </dsp:nvSpPr>
      <dsp:spPr>
        <a:xfrm>
          <a:off x="6828976" y="486433"/>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06624" y="530122"/>
        <a:ext cx="20310" cy="4062"/>
      </dsp:txXfrm>
    </dsp:sp>
    <dsp:sp modelId="{D5BF7080-972C-477D-A537-06F334619D64}">
      <dsp:nvSpPr>
        <dsp:cNvPr id="0" name=""/>
        <dsp:cNvSpPr/>
      </dsp:nvSpPr>
      <dsp:spPr>
        <a:xfrm>
          <a:off x="5064663" y="2319"/>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b="1" kern="1200"/>
            <a:t>b. iOS Simulator (from Xcode):</a:t>
          </a:r>
          <a:endParaRPr lang="en-US" sz="1200" kern="1200"/>
        </a:p>
      </dsp:txBody>
      <dsp:txXfrm>
        <a:off x="5064663" y="2319"/>
        <a:ext cx="1766113" cy="1059668"/>
      </dsp:txXfrm>
    </dsp:sp>
    <dsp:sp modelId="{9BD63981-EE98-4537-84FB-8B4525139AB9}">
      <dsp:nvSpPr>
        <dsp:cNvPr id="0" name=""/>
        <dsp:cNvSpPr/>
      </dsp:nvSpPr>
      <dsp:spPr>
        <a:xfrm>
          <a:off x="1603080" y="1060187"/>
          <a:ext cx="6516959" cy="375606"/>
        </a:xfrm>
        <a:custGeom>
          <a:avLst/>
          <a:gdLst/>
          <a:ahLst/>
          <a:cxnLst/>
          <a:rect l="0" t="0" r="0" b="0"/>
          <a:pathLst>
            <a:path>
              <a:moveTo>
                <a:pt x="6516959" y="0"/>
              </a:moveTo>
              <a:lnTo>
                <a:pt x="6516959" y="204903"/>
              </a:lnTo>
              <a:lnTo>
                <a:pt x="0" y="204903"/>
              </a:lnTo>
              <a:lnTo>
                <a:pt x="0" y="375606"/>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98319" y="1245959"/>
        <a:ext cx="326480" cy="4062"/>
      </dsp:txXfrm>
    </dsp:sp>
    <dsp:sp modelId="{A99D70AA-F030-4E73-85FF-F2D548DED68B}">
      <dsp:nvSpPr>
        <dsp:cNvPr id="0" name=""/>
        <dsp:cNvSpPr/>
      </dsp:nvSpPr>
      <dsp:spPr>
        <a:xfrm>
          <a:off x="7236982" y="2319"/>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 Open Xcode.</a:t>
          </a:r>
        </a:p>
      </dsp:txBody>
      <dsp:txXfrm>
        <a:off x="7236982" y="2319"/>
        <a:ext cx="1766113" cy="1059668"/>
      </dsp:txXfrm>
    </dsp:sp>
    <dsp:sp modelId="{2670591F-BDB1-4422-B591-E36A913F2478}">
      <dsp:nvSpPr>
        <dsp:cNvPr id="0" name=""/>
        <dsp:cNvSpPr/>
      </dsp:nvSpPr>
      <dsp:spPr>
        <a:xfrm>
          <a:off x="2484337" y="1952307"/>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1985" y="1995996"/>
        <a:ext cx="20310" cy="4062"/>
      </dsp:txXfrm>
    </dsp:sp>
    <dsp:sp modelId="{F44BF714-DF95-489E-8AC4-DC331F91BF21}">
      <dsp:nvSpPr>
        <dsp:cNvPr id="0" name=""/>
        <dsp:cNvSpPr/>
      </dsp:nvSpPr>
      <dsp:spPr>
        <a:xfrm>
          <a:off x="720023" y="1468193"/>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 Go to "Xcode" in the menu bar, then select "Open Developer Tool" and choose "Simulator."</a:t>
          </a:r>
        </a:p>
      </dsp:txBody>
      <dsp:txXfrm>
        <a:off x="720023" y="1468193"/>
        <a:ext cx="1766113" cy="1059668"/>
      </dsp:txXfrm>
    </dsp:sp>
    <dsp:sp modelId="{24AFB4FF-A2ED-4F09-AFFE-BAF6413010EF}">
      <dsp:nvSpPr>
        <dsp:cNvPr id="0" name=""/>
        <dsp:cNvSpPr/>
      </dsp:nvSpPr>
      <dsp:spPr>
        <a:xfrm>
          <a:off x="4656656" y="1952307"/>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4304" y="1995996"/>
        <a:ext cx="20310" cy="4062"/>
      </dsp:txXfrm>
    </dsp:sp>
    <dsp:sp modelId="{43D27231-97AE-45BF-A97B-7D5F00F7BC01}">
      <dsp:nvSpPr>
        <dsp:cNvPr id="0" name=""/>
        <dsp:cNvSpPr/>
      </dsp:nvSpPr>
      <dsp:spPr>
        <a:xfrm>
          <a:off x="2892343" y="1468193"/>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dirty="0"/>
            <a:t>• In the Simulator app, you can select different iOS devices and versions to simulate.</a:t>
          </a:r>
        </a:p>
      </dsp:txBody>
      <dsp:txXfrm>
        <a:off x="2892343" y="1468193"/>
        <a:ext cx="1766113" cy="1059668"/>
      </dsp:txXfrm>
    </dsp:sp>
    <dsp:sp modelId="{ACFC1753-3679-4FBC-AE77-DD26289ED2FF}">
      <dsp:nvSpPr>
        <dsp:cNvPr id="0" name=""/>
        <dsp:cNvSpPr/>
      </dsp:nvSpPr>
      <dsp:spPr>
        <a:xfrm>
          <a:off x="6828976" y="1952307"/>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06624" y="1995996"/>
        <a:ext cx="20310" cy="4062"/>
      </dsp:txXfrm>
    </dsp:sp>
    <dsp:sp modelId="{1DE09266-B812-4158-AED7-A358E9DAC0DB}">
      <dsp:nvSpPr>
        <dsp:cNvPr id="0" name=""/>
        <dsp:cNvSpPr/>
      </dsp:nvSpPr>
      <dsp:spPr>
        <a:xfrm>
          <a:off x="5064663" y="1468193"/>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Verify Flutter Installation:</a:t>
          </a:r>
        </a:p>
      </dsp:txBody>
      <dsp:txXfrm>
        <a:off x="5064663" y="1468193"/>
        <a:ext cx="1766113" cy="1059668"/>
      </dsp:txXfrm>
    </dsp:sp>
    <dsp:sp modelId="{0530CB24-3D57-44B0-9988-8A993FC110B4}">
      <dsp:nvSpPr>
        <dsp:cNvPr id="0" name=""/>
        <dsp:cNvSpPr/>
      </dsp:nvSpPr>
      <dsp:spPr>
        <a:xfrm>
          <a:off x="1603080" y="2526061"/>
          <a:ext cx="6516959" cy="375606"/>
        </a:xfrm>
        <a:custGeom>
          <a:avLst/>
          <a:gdLst/>
          <a:ahLst/>
          <a:cxnLst/>
          <a:rect l="0" t="0" r="0" b="0"/>
          <a:pathLst>
            <a:path>
              <a:moveTo>
                <a:pt x="6516959" y="0"/>
              </a:moveTo>
              <a:lnTo>
                <a:pt x="6516959" y="204903"/>
              </a:lnTo>
              <a:lnTo>
                <a:pt x="0" y="204903"/>
              </a:lnTo>
              <a:lnTo>
                <a:pt x="0" y="375606"/>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98319" y="2711833"/>
        <a:ext cx="326480" cy="4062"/>
      </dsp:txXfrm>
    </dsp:sp>
    <dsp:sp modelId="{0E057869-1F12-4B99-B4B7-CA0C58BA7961}">
      <dsp:nvSpPr>
        <dsp:cNvPr id="0" name=""/>
        <dsp:cNvSpPr/>
      </dsp:nvSpPr>
      <dsp:spPr>
        <a:xfrm>
          <a:off x="7236982" y="1468193"/>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a. Run a Sample App:</a:t>
          </a:r>
        </a:p>
      </dsp:txBody>
      <dsp:txXfrm>
        <a:off x="7236982" y="1468193"/>
        <a:ext cx="1766113" cy="1059668"/>
      </dsp:txXfrm>
    </dsp:sp>
    <dsp:sp modelId="{7EFC62FD-327A-429C-8368-0FCC374265CB}">
      <dsp:nvSpPr>
        <dsp:cNvPr id="0" name=""/>
        <dsp:cNvSpPr/>
      </dsp:nvSpPr>
      <dsp:spPr>
        <a:xfrm>
          <a:off x="2484337" y="3418181"/>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1985" y="3461870"/>
        <a:ext cx="20310" cy="4062"/>
      </dsp:txXfrm>
    </dsp:sp>
    <dsp:sp modelId="{2B86BFAC-51A1-43AC-BFEB-CF8CE05AD0F1}">
      <dsp:nvSpPr>
        <dsp:cNvPr id="0" name=""/>
        <dsp:cNvSpPr/>
      </dsp:nvSpPr>
      <dsp:spPr>
        <a:xfrm>
          <a:off x="720023" y="2934067"/>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 Create a new Flutter app by running flutter create myapp in the terminal.</a:t>
          </a:r>
        </a:p>
      </dsp:txBody>
      <dsp:txXfrm>
        <a:off x="720023" y="2934067"/>
        <a:ext cx="1766113" cy="1059668"/>
      </dsp:txXfrm>
    </dsp:sp>
    <dsp:sp modelId="{F74A8CA2-006F-42B2-8355-A11058DA91F3}">
      <dsp:nvSpPr>
        <dsp:cNvPr id="0" name=""/>
        <dsp:cNvSpPr/>
      </dsp:nvSpPr>
      <dsp:spPr>
        <a:xfrm>
          <a:off x="4656656" y="3418181"/>
          <a:ext cx="375606" cy="91440"/>
        </a:xfrm>
        <a:custGeom>
          <a:avLst/>
          <a:gdLst/>
          <a:ahLst/>
          <a:cxnLst/>
          <a:rect l="0" t="0" r="0" b="0"/>
          <a:pathLst>
            <a:path>
              <a:moveTo>
                <a:pt x="0" y="45720"/>
              </a:moveTo>
              <a:lnTo>
                <a:pt x="37560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4304" y="3461870"/>
        <a:ext cx="20310" cy="4062"/>
      </dsp:txXfrm>
    </dsp:sp>
    <dsp:sp modelId="{61C07F4B-FCE7-4CF0-A9E4-BD6D7C092621}">
      <dsp:nvSpPr>
        <dsp:cNvPr id="0" name=""/>
        <dsp:cNvSpPr/>
      </dsp:nvSpPr>
      <dsp:spPr>
        <a:xfrm>
          <a:off x="2892343" y="2934067"/>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 Navigate to the app's directory using cd myapp.</a:t>
          </a:r>
        </a:p>
      </dsp:txBody>
      <dsp:txXfrm>
        <a:off x="2892343" y="2934067"/>
        <a:ext cx="1766113" cy="1059668"/>
      </dsp:txXfrm>
    </dsp:sp>
    <dsp:sp modelId="{DF24DBDC-3F65-4118-A718-694AD4A3BF10}">
      <dsp:nvSpPr>
        <dsp:cNvPr id="0" name=""/>
        <dsp:cNvSpPr/>
      </dsp:nvSpPr>
      <dsp:spPr>
        <a:xfrm>
          <a:off x="5064663" y="2934067"/>
          <a:ext cx="1766113" cy="10596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41" tIns="90840" rIns="86541" bIns="90840" numCol="1" spcCol="1270" anchor="ctr" anchorCtr="0">
          <a:noAutofit/>
        </a:bodyPr>
        <a:lstStyle/>
        <a:p>
          <a:pPr marL="0" lvl="0" indent="0" algn="ctr" defTabSz="533400">
            <a:lnSpc>
              <a:spcPct val="90000"/>
            </a:lnSpc>
            <a:spcBef>
              <a:spcPct val="0"/>
            </a:spcBef>
            <a:spcAft>
              <a:spcPct val="35000"/>
            </a:spcAft>
            <a:buNone/>
          </a:pPr>
          <a:r>
            <a:rPr lang="en-US" sz="1200" kern="1200"/>
            <a:t>• Launch the app on an emulator using flutter run.</a:t>
          </a:r>
        </a:p>
      </dsp:txBody>
      <dsp:txXfrm>
        <a:off x="5064663" y="2934067"/>
        <a:ext cx="1766113" cy="105966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63FA7-8868-4099-B505-253661F891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43B61D-ED26-463E-A101-AF513C4CF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A0C1DF-8DB1-457E-B1EF-758A3FBE6187}"/>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5" name="Footer Placeholder 4">
            <a:extLst>
              <a:ext uri="{FF2B5EF4-FFF2-40B4-BE49-F238E27FC236}">
                <a16:creationId xmlns:a16="http://schemas.microsoft.com/office/drawing/2014/main" id="{BB539A10-2E70-4236-A700-FDA98EB3E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131AF3-F30C-4670-8C0D-E03B53BD905F}"/>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2031636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6680E-9959-484B-B12C-CC1BC11674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0E6BC5-EAFA-4C9E-BA5C-2EBC9F6169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1D576-43C6-4F41-8452-81EE60B3AE40}"/>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5" name="Footer Placeholder 4">
            <a:extLst>
              <a:ext uri="{FF2B5EF4-FFF2-40B4-BE49-F238E27FC236}">
                <a16:creationId xmlns:a16="http://schemas.microsoft.com/office/drawing/2014/main" id="{B149C647-B064-4525-BD81-9142DAAAEB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09866-43A5-4AA3-BF8B-4A15B6C0C33F}"/>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3013316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571E-FF6B-43EE-8415-594AE457D9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D0BB3D-F4F2-4E1C-829A-53BDCA17C4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0D670D-C63C-46BF-9C49-4A9D01A546A8}"/>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5" name="Footer Placeholder 4">
            <a:extLst>
              <a:ext uri="{FF2B5EF4-FFF2-40B4-BE49-F238E27FC236}">
                <a16:creationId xmlns:a16="http://schemas.microsoft.com/office/drawing/2014/main" id="{3329B7B0-1181-4284-AEDA-6726F3FF86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6655E3-BC81-4882-BABC-AE945175486D}"/>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918274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F65DB-3C64-4732-8780-D29E5E217E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0CC935-4B6E-47B1-8020-CAF252FFE2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7CB0B7-6E44-4FB7-9212-4EB54DA914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D8B555-034F-4B3C-9B06-D269C261F98D}"/>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6" name="Footer Placeholder 5">
            <a:extLst>
              <a:ext uri="{FF2B5EF4-FFF2-40B4-BE49-F238E27FC236}">
                <a16:creationId xmlns:a16="http://schemas.microsoft.com/office/drawing/2014/main" id="{4B563666-6210-4275-9C63-1A66D06408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1E7A3F-AE88-459B-8B15-D243FED52D6D}"/>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2156904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621B-470D-4D73-BD13-A45CAEDBB9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08E479-40E2-4240-8EB0-26FFC3B8AA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0E4486-30E4-4D7B-9C72-60A896FF1E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932E50-37C7-4004-91E5-FCBDA33003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5A24C4-5E74-463F-9C28-C027CB4867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090CDB-6FEB-4F46-BF60-0D329C6BE687}"/>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8" name="Footer Placeholder 7">
            <a:extLst>
              <a:ext uri="{FF2B5EF4-FFF2-40B4-BE49-F238E27FC236}">
                <a16:creationId xmlns:a16="http://schemas.microsoft.com/office/drawing/2014/main" id="{8716DF7A-1B16-46B0-A878-8D6E1AB337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BA0D6C-BC4F-4C17-B56E-B87315F8A278}"/>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375352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8AB6E-A26D-4CF6-B236-BC43F71901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F42C93-6923-4532-B7BB-AAFF3EF97DC7}"/>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4" name="Footer Placeholder 3">
            <a:extLst>
              <a:ext uri="{FF2B5EF4-FFF2-40B4-BE49-F238E27FC236}">
                <a16:creationId xmlns:a16="http://schemas.microsoft.com/office/drawing/2014/main" id="{1499D361-34FC-46CD-A5FF-661B866FB8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0657F9-D309-4DA6-83D6-EDEEBE05B6B5}"/>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178643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3B6AC4-F705-48E4-89FF-C6CD4B9FB9EC}"/>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3" name="Footer Placeholder 2">
            <a:extLst>
              <a:ext uri="{FF2B5EF4-FFF2-40B4-BE49-F238E27FC236}">
                <a16:creationId xmlns:a16="http://schemas.microsoft.com/office/drawing/2014/main" id="{52710204-F7D6-47E7-ACD6-01A5342F4A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30B5D0-B448-4BD3-96B1-45AF0AD0C90D}"/>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2742117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B47E-2AEC-4A5F-BEAC-C154865F7B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3DDE4F-8E80-4871-8E18-726A0ADCFB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C7FEC6-A41A-4C2F-ABF0-BC0421DC30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77188-C750-46E8-B098-F6BAC8CB9CFA}"/>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6" name="Footer Placeholder 5">
            <a:extLst>
              <a:ext uri="{FF2B5EF4-FFF2-40B4-BE49-F238E27FC236}">
                <a16:creationId xmlns:a16="http://schemas.microsoft.com/office/drawing/2014/main" id="{1C39CF93-3E1B-4042-B228-BC5D053366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1D8CB5-18C8-4AEA-92E7-66F038071C47}"/>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3237777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8792A-10EA-403F-B8E9-2D2AA43EE5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72F124-EEF9-48EA-9DB5-52CB1CDC63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93B511-C10D-4670-A328-DD74C5C803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50565-DB5F-4B60-A987-0EEB2CA7529F}"/>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6" name="Footer Placeholder 5">
            <a:extLst>
              <a:ext uri="{FF2B5EF4-FFF2-40B4-BE49-F238E27FC236}">
                <a16:creationId xmlns:a16="http://schemas.microsoft.com/office/drawing/2014/main" id="{CA98D0B2-C9C5-411B-B9FF-6C5D2A449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178F60-62E0-4B3D-829C-45569B68D37F}"/>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715488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E368-D0C9-451E-B57C-4AB1223B4E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10304A-B7EE-4601-B1A2-AB7563212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EB5818-C277-445C-A9F4-2F2B25E4A4D1}"/>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5" name="Footer Placeholder 4">
            <a:extLst>
              <a:ext uri="{FF2B5EF4-FFF2-40B4-BE49-F238E27FC236}">
                <a16:creationId xmlns:a16="http://schemas.microsoft.com/office/drawing/2014/main" id="{CE214BB3-B0FB-47EC-B732-181BEAC80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85B697-A02C-4B3F-933A-B9E1EC806BAB}"/>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2114440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88C190-773A-43A9-A7B4-D67E333381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D7D5E4-EB8A-420C-9B07-2C95026BBF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3FF878-A06A-4741-80CF-C7CF6550E1FB}"/>
              </a:ext>
            </a:extLst>
          </p:cNvPr>
          <p:cNvSpPr>
            <a:spLocks noGrp="1"/>
          </p:cNvSpPr>
          <p:nvPr>
            <p:ph type="dt" sz="half" idx="10"/>
          </p:nvPr>
        </p:nvSpPr>
        <p:spPr/>
        <p:txBody>
          <a:bodyPr/>
          <a:lstStyle/>
          <a:p>
            <a:fld id="{AADE2537-1A38-4583-9706-2A7A950E2E55}" type="datetimeFigureOut">
              <a:rPr lang="en-US" smtClean="0"/>
              <a:t>1/22/2024</a:t>
            </a:fld>
            <a:endParaRPr lang="en-US"/>
          </a:p>
        </p:txBody>
      </p:sp>
      <p:sp>
        <p:nvSpPr>
          <p:cNvPr id="5" name="Footer Placeholder 4">
            <a:extLst>
              <a:ext uri="{FF2B5EF4-FFF2-40B4-BE49-F238E27FC236}">
                <a16:creationId xmlns:a16="http://schemas.microsoft.com/office/drawing/2014/main" id="{E17E201B-9351-456A-B4C9-39352F18DB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446F98-3FFB-438A-894C-9AA7751466EC}"/>
              </a:ext>
            </a:extLst>
          </p:cNvPr>
          <p:cNvSpPr>
            <a:spLocks noGrp="1"/>
          </p:cNvSpPr>
          <p:nvPr>
            <p:ph type="sldNum" sz="quarter" idx="12"/>
          </p:nvPr>
        </p:nvSpPr>
        <p:spPr/>
        <p:txBody>
          <a:bodyPr/>
          <a:lstStyle/>
          <a:p>
            <a:fld id="{AF683A9A-44FE-4EF6-AC1A-A72A4457AFE5}" type="slidenum">
              <a:rPr lang="en-US" smtClean="0"/>
              <a:t>‹#›</a:t>
            </a:fld>
            <a:endParaRPr lang="en-US"/>
          </a:p>
        </p:txBody>
      </p:sp>
    </p:spTree>
    <p:extLst>
      <p:ext uri="{BB962C8B-B14F-4D97-AF65-F5344CB8AC3E}">
        <p14:creationId xmlns:p14="http://schemas.microsoft.com/office/powerpoint/2010/main" val="3315792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2BD36-501A-428E-B2A4-B9180529D1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516D7F-6564-4626-AF98-2BB119CBDE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BEE4DD-FEB9-4A0F-AB84-B59CC5A91A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E2537-1A38-4583-9706-2A7A950E2E55}" type="datetimeFigureOut">
              <a:rPr lang="en-US" smtClean="0"/>
              <a:t>1/22/2024</a:t>
            </a:fld>
            <a:endParaRPr lang="en-US"/>
          </a:p>
        </p:txBody>
      </p:sp>
      <p:sp>
        <p:nvSpPr>
          <p:cNvPr id="5" name="Footer Placeholder 4">
            <a:extLst>
              <a:ext uri="{FF2B5EF4-FFF2-40B4-BE49-F238E27FC236}">
                <a16:creationId xmlns:a16="http://schemas.microsoft.com/office/drawing/2014/main" id="{8CB586B0-E2B6-41FA-BF1B-024F8FEBA6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4C2A50-B3FC-4B7F-8C74-C70756A1FF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683A9A-44FE-4EF6-AC1A-A72A4457AFE5}" type="slidenum">
              <a:rPr lang="en-US" smtClean="0"/>
              <a:t>‹#›</a:t>
            </a:fld>
            <a:endParaRPr lang="en-US"/>
          </a:p>
        </p:txBody>
      </p:sp>
    </p:spTree>
    <p:extLst>
      <p:ext uri="{BB962C8B-B14F-4D97-AF65-F5344CB8AC3E}">
        <p14:creationId xmlns:p14="http://schemas.microsoft.com/office/powerpoint/2010/main" val="2050535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forwindows.org/" TargetMode="Externa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hyperlink" Target="https://developer.android.com/studio/instal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flutter.dev/"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developer.android.com/studio" TargetMode="Externa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visualstudio.microsoft.com/downloads/" TargetMode="External"/><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D19F7815-3AA2-7679-26F4-A63338C8B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68" y="4843169"/>
            <a:ext cx="12196668" cy="2016059"/>
            <a:chOff x="-4668" y="4843169"/>
            <a:chExt cx="12196668" cy="2016059"/>
          </a:xfrm>
        </p:grpSpPr>
        <p:sp>
          <p:nvSpPr>
            <p:cNvPr id="37" name="Rectangle 36">
              <a:extLst>
                <a:ext uri="{FF2B5EF4-FFF2-40B4-BE49-F238E27FC236}">
                  <a16:creationId xmlns:a16="http://schemas.microsoft.com/office/drawing/2014/main" id="{656154CE-3587-5C44-2A6B-1FE49B302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8" y="4843169"/>
              <a:ext cx="12196668" cy="2015947"/>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E7A46DB-98C4-E666-AEC5-DF8B5DD9E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4400"/>
              <a:ext cx="10565988" cy="2014828"/>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9F8962A-028A-2EBA-FBCF-F9B033440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3170"/>
              <a:ext cx="10309010" cy="2006799"/>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F139663-D7C2-5898-E610-2183584AC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05876" y="4851203"/>
              <a:ext cx="8086124" cy="200679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B71BE740-610D-4FB6-D7BE-C378D1E6E0EC}"/>
              </a:ext>
            </a:extLst>
          </p:cNvPr>
          <p:cNvSpPr>
            <a:spLocks noGrp="1"/>
          </p:cNvSpPr>
          <p:nvPr>
            <p:ph type="ctrTitle"/>
          </p:nvPr>
        </p:nvSpPr>
        <p:spPr>
          <a:xfrm>
            <a:off x="1611630" y="5167418"/>
            <a:ext cx="8949690" cy="702264"/>
          </a:xfrm>
        </p:spPr>
        <p:txBody>
          <a:bodyPr anchor="b">
            <a:normAutofit/>
          </a:bodyPr>
          <a:lstStyle/>
          <a:p>
            <a:r>
              <a:rPr lang="en-US" sz="4400" dirty="0"/>
              <a:t>MAD – 4360/6370</a:t>
            </a:r>
          </a:p>
        </p:txBody>
      </p:sp>
      <p:pic>
        <p:nvPicPr>
          <p:cNvPr id="5" name="Picture 4" descr="A desk with technical drawings, pencil and tools">
            <a:extLst>
              <a:ext uri="{FF2B5EF4-FFF2-40B4-BE49-F238E27FC236}">
                <a16:creationId xmlns:a16="http://schemas.microsoft.com/office/drawing/2014/main" id="{269E3B19-79BB-61FD-E016-EF2E2CC6B77E}"/>
              </a:ext>
            </a:extLst>
          </p:cNvPr>
          <p:cNvPicPr>
            <a:picLocks noChangeAspect="1"/>
          </p:cNvPicPr>
          <p:nvPr/>
        </p:nvPicPr>
        <p:blipFill rotWithShape="1">
          <a:blip r:embed="rId2"/>
          <a:srcRect t="6276" b="9454"/>
          <a:stretch/>
        </p:blipFill>
        <p:spPr>
          <a:xfrm>
            <a:off x="2633812" y="461527"/>
            <a:ext cx="6924376" cy="3894978"/>
          </a:xfrm>
          <a:prstGeom prst="rect">
            <a:avLst/>
          </a:prstGeom>
        </p:spPr>
      </p:pic>
    </p:spTree>
    <p:extLst>
      <p:ext uri="{BB962C8B-B14F-4D97-AF65-F5344CB8AC3E}">
        <p14:creationId xmlns:p14="http://schemas.microsoft.com/office/powerpoint/2010/main" val="1899453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927515-A40E-43E8-93EE-56E95B7C8026}"/>
              </a:ext>
            </a:extLst>
          </p:cNvPr>
          <p:cNvSpPr>
            <a:spLocks noGrp="1"/>
          </p:cNvSpPr>
          <p:nvPr>
            <p:ph type="ctrTitle"/>
          </p:nvPr>
        </p:nvSpPr>
        <p:spPr>
          <a:xfrm>
            <a:off x="3581400" y="965580"/>
            <a:ext cx="5204489" cy="3160593"/>
          </a:xfrm>
        </p:spPr>
        <p:txBody>
          <a:bodyPr>
            <a:normAutofit/>
          </a:bodyPr>
          <a:lstStyle/>
          <a:p>
            <a:r>
              <a:rPr lang="en-US" sz="5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Setting up a development environment for Flutter </a:t>
            </a:r>
            <a:endParaRPr lang="en-US" sz="5400" dirty="0">
              <a:solidFill>
                <a:schemeClr val="bg1"/>
              </a:solidFill>
            </a:endParaRPr>
          </a:p>
        </p:txBody>
      </p:sp>
      <p:sp>
        <p:nvSpPr>
          <p:cNvPr id="3" name="Subtitle 2">
            <a:extLst>
              <a:ext uri="{FF2B5EF4-FFF2-40B4-BE49-F238E27FC236}">
                <a16:creationId xmlns:a16="http://schemas.microsoft.com/office/drawing/2014/main" id="{9D96E495-6D51-4C0A-8D03-666B8E612060}"/>
              </a:ext>
            </a:extLst>
          </p:cNvPr>
          <p:cNvSpPr>
            <a:spLocks noGrp="1"/>
          </p:cNvSpPr>
          <p:nvPr>
            <p:ph type="subTitle" idx="1"/>
          </p:nvPr>
        </p:nvSpPr>
        <p:spPr>
          <a:xfrm>
            <a:off x="3820817" y="4409960"/>
            <a:ext cx="4508641" cy="1116414"/>
          </a:xfrm>
        </p:spPr>
        <p:txBody>
          <a:bodyPr>
            <a:normAutofit/>
          </a:bodyPr>
          <a:lstStyle/>
          <a:p>
            <a:endParaRPr lang="en-US" sz="2000" dirty="0">
              <a:solidFill>
                <a:schemeClr val="bg1"/>
              </a:solidFill>
            </a:endParaRP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26770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73CC-06DE-461F-87CE-668A2679B46D}"/>
              </a:ext>
            </a:extLst>
          </p:cNvPr>
          <p:cNvSpPr>
            <a:spLocks noGrp="1"/>
          </p:cNvSpPr>
          <p:nvPr>
            <p:ph type="title"/>
          </p:nvPr>
        </p:nvSpPr>
        <p:spPr>
          <a:xfrm>
            <a:off x="5868557" y="1138036"/>
            <a:ext cx="5444382" cy="1402470"/>
          </a:xfrm>
        </p:spPr>
        <p:txBody>
          <a:bodyPr anchor="t">
            <a:normAutofit/>
          </a:bodyPr>
          <a:lstStyle/>
          <a:p>
            <a:r>
              <a:rPr lang="en-US" sz="3200"/>
              <a:t>Flutter set-up</a:t>
            </a:r>
          </a:p>
        </p:txBody>
      </p:sp>
      <p:pic>
        <p:nvPicPr>
          <p:cNvPr id="7" name="Picture 6" descr="Mobile device with apps">
            <a:extLst>
              <a:ext uri="{FF2B5EF4-FFF2-40B4-BE49-F238E27FC236}">
                <a16:creationId xmlns:a16="http://schemas.microsoft.com/office/drawing/2014/main" id="{92B1D537-4E0F-2925-FE3A-C635EFA5C0E9}"/>
              </a:ext>
            </a:extLst>
          </p:cNvPr>
          <p:cNvPicPr>
            <a:picLocks noChangeAspect="1"/>
          </p:cNvPicPr>
          <p:nvPr/>
        </p:nvPicPr>
        <p:blipFill rotWithShape="1">
          <a:blip r:embed="rId2"/>
          <a:srcRect l="48660" r="9089"/>
          <a:stretch/>
        </p:blipFill>
        <p:spPr>
          <a:xfrm>
            <a:off x="-1" y="10"/>
            <a:ext cx="5151179" cy="6857990"/>
          </a:xfrm>
          <a:prstGeom prst="rect">
            <a:avLst/>
          </a:prstGeom>
        </p:spPr>
      </p:pic>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B94810D-6ACF-4C2D-A4C7-6527ACA2306C}"/>
              </a:ext>
            </a:extLst>
          </p:cNvPr>
          <p:cNvSpPr>
            <a:spLocks noGrp="1"/>
          </p:cNvSpPr>
          <p:nvPr>
            <p:ph idx="1"/>
          </p:nvPr>
        </p:nvSpPr>
        <p:spPr>
          <a:xfrm>
            <a:off x="5868557" y="2551176"/>
            <a:ext cx="5444382" cy="3591207"/>
          </a:xfrm>
        </p:spPr>
        <p:txBody>
          <a:bodyPr>
            <a:normAutofit lnSpcReduction="10000"/>
          </a:bodyPr>
          <a:lstStyle/>
          <a:p>
            <a:pPr marL="0" marR="0" indent="0">
              <a:spcBef>
                <a:spcPts val="0"/>
              </a:spcBef>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Setting up a development environment for Flutter involves installing Flutter itself, along with either Android Studio or Xcode for mobile app development, and configuring emulators for testing your apps. </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2000" b="0" i="0" dirty="0">
                <a:solidFill>
                  <a:srgbClr val="212121"/>
                </a:solidFill>
                <a:effectLst/>
              </a:rPr>
              <a:t>Download and install the Windows version of the following packages:</a:t>
            </a:r>
          </a:p>
          <a:p>
            <a:pPr algn="l">
              <a:buFont typeface="Arial" panose="020B0604020202020204" pitchFamily="34" charset="0"/>
              <a:buChar char="•"/>
            </a:pPr>
            <a:r>
              <a:rPr lang="en-US" sz="2000" b="0" i="0" u="none" strike="noStrike" dirty="0">
                <a:solidFill>
                  <a:srgbClr val="0468D7"/>
                </a:solidFill>
                <a:effectLst/>
                <a:hlinkClick r:id="rId3"/>
              </a:rPr>
              <a:t>Git for Windows</a:t>
            </a:r>
            <a:r>
              <a:rPr lang="en-US" sz="2000" b="0" i="0" dirty="0">
                <a:solidFill>
                  <a:srgbClr val="212121"/>
                </a:solidFill>
                <a:effectLst/>
              </a:rPr>
              <a:t> 2.4 or later to manage source code.</a:t>
            </a:r>
          </a:p>
          <a:p>
            <a:pPr algn="l">
              <a:buFont typeface="Arial" panose="020B0604020202020204" pitchFamily="34" charset="0"/>
              <a:buChar char="•"/>
            </a:pPr>
            <a:r>
              <a:rPr lang="en-US" sz="2000" b="0" i="0" u="none" strike="noStrike" dirty="0">
                <a:solidFill>
                  <a:srgbClr val="0468D7"/>
                </a:solidFill>
                <a:effectLst/>
                <a:hlinkClick r:id="rId4"/>
              </a:rPr>
              <a:t>Android Studio</a:t>
            </a:r>
            <a:r>
              <a:rPr lang="en-US" sz="2000" b="0" i="0" dirty="0">
                <a:solidFill>
                  <a:srgbClr val="212121"/>
                </a:solidFill>
                <a:effectLst/>
              </a:rPr>
              <a:t> 2023.1.1  to debug and compile Java or Kotlin code for Android. Flutter requires the full version of Android Studio</a:t>
            </a:r>
            <a:r>
              <a:rPr lang="en-US" sz="1400" b="0" i="0" dirty="0">
                <a:solidFill>
                  <a:srgbClr val="212121"/>
                </a:solidFill>
                <a:effectLst/>
              </a:rPr>
              <a:t>.</a:t>
            </a:r>
          </a:p>
          <a:p>
            <a:pPr marL="0" marR="0" indent="0">
              <a:spcBef>
                <a:spcPts val="0"/>
              </a:spcBef>
              <a:spcAft>
                <a:spcPts val="800"/>
              </a:spcAft>
              <a:buNone/>
            </a:pP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861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60353AB4-A507-47D2-992B-116F7226B646}"/>
              </a:ext>
            </a:extLst>
          </p:cNvPr>
          <p:cNvSpPr>
            <a:spLocks noGrp="1"/>
          </p:cNvSpPr>
          <p:nvPr>
            <p:ph type="title"/>
          </p:nvPr>
        </p:nvSpPr>
        <p:spPr>
          <a:xfrm>
            <a:off x="1102368" y="3306515"/>
            <a:ext cx="3826286" cy="3215373"/>
          </a:xfrm>
        </p:spPr>
        <p:txBody>
          <a:bodyPr>
            <a:normAutofit/>
          </a:bodyPr>
          <a:lstStyle/>
          <a:p>
            <a:pPr algn="ctr"/>
            <a:r>
              <a:rPr lang="en-US" sz="4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Here's a detailed guide to help you through the process:</a:t>
            </a:r>
            <a:br>
              <a:rPr lang="en-US" sz="4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en-US" sz="4100">
              <a:solidFill>
                <a:schemeClr val="bg1"/>
              </a:solidFill>
            </a:endParaRPr>
          </a:p>
        </p:txBody>
      </p:sp>
      <p:sp>
        <p:nvSpPr>
          <p:cNvPr id="14" name="Freeform: Shape 13">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Content Placeholder 2">
            <a:extLst>
              <a:ext uri="{FF2B5EF4-FFF2-40B4-BE49-F238E27FC236}">
                <a16:creationId xmlns:a16="http://schemas.microsoft.com/office/drawing/2014/main" id="{1F25D721-E525-4FC2-99E2-8E7AA0A95A43}"/>
              </a:ext>
            </a:extLst>
          </p:cNvPr>
          <p:cNvSpPr>
            <a:spLocks noGrp="1"/>
          </p:cNvSpPr>
          <p:nvPr>
            <p:ph idx="1"/>
          </p:nvPr>
        </p:nvSpPr>
        <p:spPr>
          <a:xfrm>
            <a:off x="5211448" y="706508"/>
            <a:ext cx="5217173" cy="4351338"/>
          </a:xfrm>
        </p:spPr>
        <p:txBody>
          <a:bodyPr>
            <a:normAutofit/>
          </a:bodyPr>
          <a:lstStyle/>
          <a:p>
            <a:pPr marL="0" marR="0" indent="0">
              <a:spcBef>
                <a:spcPts val="0"/>
              </a:spcBef>
              <a:spcAft>
                <a:spcPts val="800"/>
              </a:spcAft>
              <a:buNone/>
            </a:pPr>
            <a:r>
              <a:rPr lang="en-US" sz="22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Pre-installation Requirements </a:t>
            </a:r>
            <a:endPar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Windows 10 operating system installed (Flutter will work on Windows 7 SP1 and later versions).</a:t>
            </a:r>
          </a:p>
          <a:p>
            <a:pPr marL="342900" marR="0" lvl="0" indent="-342900">
              <a:spcBef>
                <a:spcPts val="0"/>
              </a:spcBef>
              <a:spcAft>
                <a:spcPts val="0"/>
              </a:spcAft>
              <a:buFont typeface="Symbol" panose="05050102010706020507" pitchFamily="18" charset="2"/>
              <a:buChar char=""/>
            </a:pPr>
            <a:r>
              <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least 1.65 GB of free disk space (Additional free storage is needed for other tools and IDEs, if not already installed).</a:t>
            </a:r>
          </a:p>
          <a:p>
            <a:pPr marL="342900" marR="0" lvl="0" indent="-342900">
              <a:spcBef>
                <a:spcPts val="0"/>
              </a:spcBef>
              <a:spcAft>
                <a:spcPts val="0"/>
              </a:spcAft>
              <a:buFont typeface="Symbol" panose="05050102010706020507" pitchFamily="18" charset="2"/>
              <a:buChar char=""/>
            </a:pPr>
            <a:r>
              <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Windows </a:t>
            </a:r>
            <a:r>
              <a:rPr lang="en-US" sz="22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Powershell</a:t>
            </a:r>
            <a:r>
              <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5.0 or newer.</a:t>
            </a:r>
          </a:p>
          <a:p>
            <a:pPr marL="342900" marR="0" lvl="0" indent="-342900">
              <a:spcBef>
                <a:spcPts val="0"/>
              </a:spcBef>
              <a:spcAft>
                <a:spcPts val="0"/>
              </a:spcAft>
              <a:buFont typeface="Symbol" panose="05050102010706020507" pitchFamily="18" charset="2"/>
              <a:buChar char=""/>
            </a:pPr>
            <a:r>
              <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Git for Windows version 2.0 or newer (Optional).</a:t>
            </a:r>
          </a:p>
          <a:p>
            <a:pPr marL="342900" marR="0" lvl="0" indent="-342900">
              <a:spcBef>
                <a:spcPts val="0"/>
              </a:spcBef>
              <a:spcAft>
                <a:spcPts val="0"/>
              </a:spcAft>
              <a:buFont typeface="Symbol" panose="05050102010706020507" pitchFamily="18" charset="2"/>
              <a:buChar char=""/>
            </a:pPr>
            <a:r>
              <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Android Studio installed.</a:t>
            </a:r>
          </a:p>
          <a:p>
            <a:pPr marL="342900" marR="0" lvl="0" indent="-342900">
              <a:spcBef>
                <a:spcPts val="0"/>
              </a:spcBef>
              <a:spcAft>
                <a:spcPts val="0"/>
              </a:spcAft>
              <a:buFont typeface="Symbol" panose="05050102010706020507" pitchFamily="18" charset="2"/>
              <a:buChar char=""/>
            </a:pPr>
            <a:r>
              <a:rPr lang="en-US" sz="2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Visual Studio 2022 with C++ (Optional).</a:t>
            </a:r>
          </a:p>
          <a:p>
            <a:endParaRPr lang="en-US" sz="2200" dirty="0">
              <a:solidFill>
                <a:schemeClr val="bg1"/>
              </a:solidFill>
            </a:endParaRPr>
          </a:p>
        </p:txBody>
      </p:sp>
      <p:grpSp>
        <p:nvGrpSpPr>
          <p:cNvPr id="22"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3" name="Freeform: Shape 22">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11250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24FCE-7A25-4454-894D-E6454A957EAC}"/>
              </a:ext>
            </a:extLst>
          </p:cNvPr>
          <p:cNvSpPr>
            <a:spLocks noGrp="1"/>
          </p:cNvSpPr>
          <p:nvPr>
            <p:ph type="title"/>
          </p:nvPr>
        </p:nvSpPr>
        <p:spPr>
          <a:xfrm>
            <a:off x="4572001" y="601744"/>
            <a:ext cx="6781800" cy="1338696"/>
          </a:xfrm>
        </p:spPr>
        <p:txBody>
          <a:bodyPr>
            <a:normAutofit/>
          </a:bodyPr>
          <a:lstStyle/>
          <a:p>
            <a:r>
              <a:rPr lang="en-US" dirty="0"/>
              <a:t>1. Install flutter using SDK	</a:t>
            </a:r>
          </a:p>
        </p:txBody>
      </p:sp>
      <p:pic>
        <p:nvPicPr>
          <p:cNvPr id="38" name="Picture 4" descr="Person watching empty phone">
            <a:extLst>
              <a:ext uri="{FF2B5EF4-FFF2-40B4-BE49-F238E27FC236}">
                <a16:creationId xmlns:a16="http://schemas.microsoft.com/office/drawing/2014/main" id="{D9DD78CA-EC22-35F6-5C19-A7534129DB08}"/>
              </a:ext>
            </a:extLst>
          </p:cNvPr>
          <p:cNvPicPr>
            <a:picLocks noChangeAspect="1"/>
          </p:cNvPicPr>
          <p:nvPr/>
        </p:nvPicPr>
        <p:blipFill rotWithShape="1">
          <a:blip r:embed="rId2"/>
          <a:srcRect l="47307" r="16147"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9" name="Content Placeholder 2">
            <a:extLst>
              <a:ext uri="{FF2B5EF4-FFF2-40B4-BE49-F238E27FC236}">
                <a16:creationId xmlns:a16="http://schemas.microsoft.com/office/drawing/2014/main" id="{EE303222-5A34-4C80-B6F9-3FED03D686D8}"/>
              </a:ext>
            </a:extLst>
          </p:cNvPr>
          <p:cNvSpPr>
            <a:spLocks noGrp="1"/>
          </p:cNvSpPr>
          <p:nvPr>
            <p:ph idx="1"/>
          </p:nvPr>
        </p:nvSpPr>
        <p:spPr>
          <a:xfrm>
            <a:off x="4572001" y="2201958"/>
            <a:ext cx="6781800" cy="3900730"/>
          </a:xfrm>
        </p:spPr>
        <p:txBody>
          <a:bodyPr anchor="t">
            <a:normAutofit/>
          </a:bodyPr>
          <a:lstStyle/>
          <a:p>
            <a:pPr marL="0" marR="0">
              <a:spcBef>
                <a:spcPts val="0"/>
              </a:spcBef>
              <a:spcAft>
                <a:spcPts val="800"/>
              </a:spcAft>
            </a:pP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Flutter is the open-source UI software development kit created by Google. It allows you to build natively compiled applications for mobile, web, and desktop from a single codebase. Here's how to install Flutter:</a:t>
            </a:r>
          </a:p>
          <a:p>
            <a:pPr marL="0" marR="0" indent="0">
              <a:spcBef>
                <a:spcPts val="0"/>
              </a:spcBef>
              <a:spcAft>
                <a:spcPts val="800"/>
              </a:spcAft>
              <a:buNone/>
            </a:pP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Download Flutter:</a:t>
            </a:r>
          </a:p>
          <a:p>
            <a:pPr marL="0" marR="0" indent="0">
              <a:spcBef>
                <a:spcPts val="0"/>
              </a:spcBef>
              <a:spcAft>
                <a:spcPts val="800"/>
              </a:spcAft>
              <a:buNone/>
            </a:pP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Go to the official Flutter website: </a:t>
            </a:r>
            <a:r>
              <a:rPr lang="en-US" sz="1900" u="sng" kern="100" dirty="0">
                <a:effectLst/>
                <a:latin typeface="Calibri" panose="020F0502020204030204" pitchFamily="34" charset="0"/>
                <a:ea typeface="Calibri" panose="020F0502020204030204" pitchFamily="34" charset="0"/>
                <a:cs typeface="Times New Roman" panose="02020603050405020304" pitchFamily="18" charset="0"/>
                <a:hlinkClick r:id="rId3"/>
              </a:rPr>
              <a:t>https://flutter.dev/</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Click on the "Get Started" button.</a:t>
            </a:r>
          </a:p>
          <a:p>
            <a:pPr marL="0" marR="0" indent="0">
              <a:spcBef>
                <a:spcPts val="0"/>
              </a:spcBef>
              <a:spcAft>
                <a:spcPts val="800"/>
              </a:spcAft>
              <a:buNone/>
            </a:pP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Choose your operating system (Windows, macOS, Linux) and download the </a:t>
            </a:r>
          </a:p>
          <a:p>
            <a:pPr marL="0" marR="0" indent="0">
              <a:spcBef>
                <a:spcPts val="0"/>
              </a:spcBef>
              <a:spcAft>
                <a:spcPts val="800"/>
              </a:spcAft>
              <a:buNone/>
            </a:pP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It is worth noting that Flutter works great for Android and iOS mobile apps and apps for web and desktop. Today, Flutter’s support for MacOS and Linux is still in beta.</a:t>
            </a:r>
          </a:p>
          <a:p>
            <a:endParaRPr lang="en-US" sz="1900" dirty="0"/>
          </a:p>
        </p:txBody>
      </p:sp>
    </p:spTree>
    <p:extLst>
      <p:ext uri="{BB962C8B-B14F-4D97-AF65-F5344CB8AC3E}">
        <p14:creationId xmlns:p14="http://schemas.microsoft.com/office/powerpoint/2010/main" val="192255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rrows pointing towards light">
            <a:extLst>
              <a:ext uri="{FF2B5EF4-FFF2-40B4-BE49-F238E27FC236}">
                <a16:creationId xmlns:a16="http://schemas.microsoft.com/office/drawing/2014/main" id="{D080482C-68A5-0968-7E27-88AA1D67D46A}"/>
              </a:ext>
            </a:extLst>
          </p:cNvPr>
          <p:cNvPicPr>
            <a:picLocks noChangeAspect="1"/>
          </p:cNvPicPr>
          <p:nvPr/>
        </p:nvPicPr>
        <p:blipFill rotWithShape="1">
          <a:blip r:embed="rId2"/>
          <a:srcRect l="3807" r="43534"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93AC55-4B94-42BA-A780-2BDCD8BEE964}"/>
              </a:ext>
            </a:extLst>
          </p:cNvPr>
          <p:cNvSpPr>
            <a:spLocks noGrp="1"/>
          </p:cNvSpPr>
          <p:nvPr>
            <p:ph type="title"/>
          </p:nvPr>
        </p:nvSpPr>
        <p:spPr>
          <a:xfrm>
            <a:off x="6115317" y="405685"/>
            <a:ext cx="5464968" cy="1559301"/>
          </a:xfrm>
        </p:spPr>
        <p:txBody>
          <a:bodyPr>
            <a:normAutofit/>
          </a:bodyPr>
          <a:lstStyle/>
          <a:p>
            <a:r>
              <a:rPr lang="en-US" sz="4000"/>
              <a:t>1. Install flutter	continue</a:t>
            </a:r>
          </a:p>
        </p:txBody>
      </p:sp>
      <p:sp>
        <p:nvSpPr>
          <p:cNvPr id="3" name="Content Placeholder 2">
            <a:extLst>
              <a:ext uri="{FF2B5EF4-FFF2-40B4-BE49-F238E27FC236}">
                <a16:creationId xmlns:a16="http://schemas.microsoft.com/office/drawing/2014/main" id="{CDB4E04F-1313-4992-95C7-4F9F05599380}"/>
              </a:ext>
            </a:extLst>
          </p:cNvPr>
          <p:cNvSpPr>
            <a:spLocks noGrp="1"/>
          </p:cNvSpPr>
          <p:nvPr>
            <p:ph idx="1"/>
          </p:nvPr>
        </p:nvSpPr>
        <p:spPr>
          <a:xfrm>
            <a:off x="6115317" y="2743200"/>
            <a:ext cx="5247340" cy="3496878"/>
          </a:xfrm>
        </p:spPr>
        <p:txBody>
          <a:bodyPr anchor="ctr">
            <a:normAutofit/>
          </a:bodyPr>
          <a:lstStyle/>
          <a:p>
            <a:pPr marL="0" marR="0">
              <a:spcBef>
                <a:spcPts val="0"/>
              </a:spcBef>
              <a:spcAft>
                <a:spcPts val="800"/>
              </a:spcAft>
            </a:pPr>
            <a:r>
              <a:rPr lang="en-US" sz="2000" kern="100">
                <a:effectLst/>
                <a:latin typeface="Calibri" panose="020F0502020204030204" pitchFamily="34" charset="0"/>
                <a:ea typeface="Calibri" panose="020F0502020204030204" pitchFamily="34" charset="0"/>
                <a:cs typeface="Times New Roman" panose="02020603050405020304" pitchFamily="18" charset="0"/>
              </a:rPr>
              <a:t>b. Extract and Add to Path:</a:t>
            </a:r>
          </a:p>
          <a:p>
            <a:pPr marL="0" marR="0" indent="0">
              <a:spcBef>
                <a:spcPts val="0"/>
              </a:spcBef>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Extract the downloaded archive to a location on your computer.</a:t>
            </a:r>
          </a:p>
          <a:p>
            <a:pPr marL="0" marR="0" indent="0">
              <a:spcBef>
                <a:spcPts val="0"/>
              </a:spcBef>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Add the Flutter bin directory path to your system's PATH variable.</a:t>
            </a:r>
          </a:p>
          <a:p>
            <a:pPr marL="0" marR="0" indent="0">
              <a:spcBef>
                <a:spcPts val="0"/>
              </a:spcBef>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This step allows you to run Flutter commands from any terminal window.</a:t>
            </a:r>
          </a:p>
          <a:p>
            <a:endParaRPr lang="en-US" sz="2000"/>
          </a:p>
        </p:txBody>
      </p:sp>
    </p:spTree>
    <p:extLst>
      <p:ext uri="{BB962C8B-B14F-4D97-AF65-F5344CB8AC3E}">
        <p14:creationId xmlns:p14="http://schemas.microsoft.com/office/powerpoint/2010/main" val="1343434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7472-5666-46DA-943A-5724D76DEDB5}"/>
              </a:ext>
            </a:extLst>
          </p:cNvPr>
          <p:cNvSpPr>
            <a:spLocks noGrp="1"/>
          </p:cNvSpPr>
          <p:nvPr>
            <p:ph type="title"/>
          </p:nvPr>
        </p:nvSpPr>
        <p:spPr>
          <a:xfrm>
            <a:off x="761840" y="1138265"/>
            <a:ext cx="4544762" cy="1401183"/>
          </a:xfrm>
        </p:spPr>
        <p:txBody>
          <a:bodyPr anchor="t">
            <a:normAutofit/>
          </a:bodyPr>
          <a:lstStyle/>
          <a:p>
            <a:r>
              <a:rPr lang="en-US" sz="2500" b="1" kern="100">
                <a:effectLst/>
                <a:latin typeface="Calibri" panose="020F0502020204030204" pitchFamily="34" charset="0"/>
                <a:ea typeface="Calibri" panose="020F0502020204030204" pitchFamily="34" charset="0"/>
                <a:cs typeface="Times New Roman" panose="02020603050405020304" pitchFamily="18" charset="0"/>
              </a:rPr>
              <a:t>Option B - Update Path Variable for Windows PowerShell</a:t>
            </a:r>
            <a:br>
              <a:rPr lang="en-US" sz="2500" kern="100">
                <a:effectLst/>
                <a:latin typeface="Calibri" panose="020F0502020204030204" pitchFamily="34" charset="0"/>
                <a:ea typeface="Calibri" panose="020F0502020204030204" pitchFamily="34" charset="0"/>
                <a:cs typeface="Times New Roman" panose="02020603050405020304" pitchFamily="18" charset="0"/>
              </a:rPr>
            </a:br>
            <a:endParaRPr lang="en-US" sz="2500"/>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DD96072-A169-4376-9D0B-C947EE043ED4}"/>
              </a:ext>
            </a:extLst>
          </p:cNvPr>
          <p:cNvSpPr>
            <a:spLocks noGrp="1"/>
          </p:cNvSpPr>
          <p:nvPr>
            <p:ph idx="1"/>
          </p:nvPr>
        </p:nvSpPr>
        <p:spPr>
          <a:xfrm>
            <a:off x="761840" y="2551176"/>
            <a:ext cx="4544762" cy="3602935"/>
          </a:xfrm>
        </p:spPr>
        <p:txBody>
          <a:bodyPr>
            <a:normAutofit/>
          </a:bodyPr>
          <a:lstStyle/>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You will need to update your Path environment variable to run Flutter commands in Windows consoles PowerShell and Command Prompt (CMD). </a:t>
            </a: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First, click the Start button and type to search for and then click on Edit environment variables for your account.</a:t>
            </a:r>
          </a:p>
          <a:p>
            <a:endParaRPr lang="en-US" sz="2000" dirty="0"/>
          </a:p>
        </p:txBody>
      </p:sp>
      <p:pic>
        <p:nvPicPr>
          <p:cNvPr id="5" name="Picture 4" descr="A screenshot of a computer&#10;&#10;Description automatically generated">
            <a:extLst>
              <a:ext uri="{FF2B5EF4-FFF2-40B4-BE49-F238E27FC236}">
                <a16:creationId xmlns:a16="http://schemas.microsoft.com/office/drawing/2014/main" id="{E8899D89-B7A8-442E-AC5F-17D7A595F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586" y="2409643"/>
            <a:ext cx="5924322" cy="2266052"/>
          </a:xfrm>
          <a:prstGeom prst="rect">
            <a:avLst/>
          </a:prstGeom>
        </p:spPr>
      </p:pic>
    </p:spTree>
    <p:extLst>
      <p:ext uri="{BB962C8B-B14F-4D97-AF65-F5344CB8AC3E}">
        <p14:creationId xmlns:p14="http://schemas.microsoft.com/office/powerpoint/2010/main" val="3446320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Rectangle 76">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242AA5-4E35-43E8-8F58-4570B79B7B3F}"/>
              </a:ext>
            </a:extLst>
          </p:cNvPr>
          <p:cNvSpPr>
            <a:spLocks noGrp="1"/>
          </p:cNvSpPr>
          <p:nvPr>
            <p:ph type="title"/>
          </p:nvPr>
        </p:nvSpPr>
        <p:spPr>
          <a:xfrm>
            <a:off x="838199" y="4428000"/>
            <a:ext cx="6143626" cy="1400400"/>
          </a:xfrm>
        </p:spPr>
        <p:txBody>
          <a:bodyPr vert="horz" wrap="square" lIns="91440" tIns="45720" rIns="91440" bIns="45720" rtlCol="0" anchor="b">
            <a:normAutofit/>
          </a:bodyPr>
          <a:lstStyle/>
          <a:p>
            <a:r>
              <a:rPr lang="en-US" sz="3100" dirty="0">
                <a:solidFill>
                  <a:schemeClr val="bg1"/>
                </a:solidFill>
                <a:effectLst/>
              </a:rPr>
              <a:t>Step 2: Under User variables, click on and highlight </a:t>
            </a:r>
            <a:r>
              <a:rPr lang="en-US" sz="3100" b="1" dirty="0">
                <a:solidFill>
                  <a:schemeClr val="bg1"/>
                </a:solidFill>
                <a:effectLst/>
              </a:rPr>
              <a:t>Path</a:t>
            </a:r>
            <a:r>
              <a:rPr lang="en-US" sz="3100" dirty="0">
                <a:solidFill>
                  <a:schemeClr val="bg1"/>
                </a:solidFill>
                <a:effectLst/>
              </a:rPr>
              <a:t>. Click </a:t>
            </a:r>
            <a:r>
              <a:rPr lang="en-US" sz="3100" b="1" dirty="0">
                <a:solidFill>
                  <a:schemeClr val="bg1"/>
                </a:solidFill>
                <a:effectLst/>
              </a:rPr>
              <a:t>Edit</a:t>
            </a:r>
            <a:r>
              <a:rPr lang="en-US" sz="3100" dirty="0">
                <a:solidFill>
                  <a:schemeClr val="bg1"/>
                </a:solidFill>
                <a:effectLst/>
              </a:rPr>
              <a:t>.</a:t>
            </a:r>
            <a:br>
              <a:rPr lang="en-US" sz="3100" dirty="0">
                <a:solidFill>
                  <a:schemeClr val="bg1"/>
                </a:solidFill>
                <a:effectLst/>
              </a:rPr>
            </a:br>
            <a:endParaRPr lang="en-US" sz="3100" dirty="0">
              <a:solidFill>
                <a:schemeClr val="bg1"/>
              </a:solidFill>
            </a:endParaRPr>
          </a:p>
        </p:txBody>
      </p:sp>
      <p:pic>
        <p:nvPicPr>
          <p:cNvPr id="9" name="Content Placeholder 8" descr="A screenshot of a computer&#10;&#10;Description automatically generated">
            <a:extLst>
              <a:ext uri="{FF2B5EF4-FFF2-40B4-BE49-F238E27FC236}">
                <a16:creationId xmlns:a16="http://schemas.microsoft.com/office/drawing/2014/main" id="{EE44AC2D-29B3-48C0-BDA1-BE22AF01565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7313" b="23513"/>
          <a:stretch/>
        </p:blipFill>
        <p:spPr>
          <a:xfrm>
            <a:off x="20" y="-1"/>
            <a:ext cx="12191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p:spPr>
      </p:pic>
      <p:grpSp>
        <p:nvGrpSpPr>
          <p:cNvPr id="79" name="Group 78">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80" name="Freeform: Shape 79">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07844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A8847-D4BD-41FE-9BFD-B8190236EB6C}"/>
              </a:ext>
            </a:extLst>
          </p:cNvPr>
          <p:cNvSpPr>
            <a:spLocks noGrp="1"/>
          </p:cNvSpPr>
          <p:nvPr>
            <p:ph type="title"/>
          </p:nvPr>
        </p:nvSpPr>
        <p:spPr>
          <a:xfrm>
            <a:off x="1155557" y="4551036"/>
            <a:ext cx="4284420" cy="1687143"/>
          </a:xfrm>
        </p:spPr>
        <p:txBody>
          <a:bodyPr anchor="t">
            <a:normAutofit/>
          </a:bodyPr>
          <a:lstStyle/>
          <a:p>
            <a:r>
              <a:rPr lang="en-US">
                <a:solidFill>
                  <a:schemeClr val="bg1"/>
                </a:solidFill>
              </a:rPr>
              <a:t>Step 3:</a:t>
            </a:r>
          </a:p>
        </p:txBody>
      </p:sp>
      <p:sp>
        <p:nvSpPr>
          <p:cNvPr id="12" name="Rectangle 11">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Description automatically generated">
            <a:extLst>
              <a:ext uri="{FF2B5EF4-FFF2-40B4-BE49-F238E27FC236}">
                <a16:creationId xmlns:a16="http://schemas.microsoft.com/office/drawing/2014/main" id="{EEBB97FD-F24F-461E-A27F-5F8F708389AE}"/>
              </a:ext>
            </a:extLst>
          </p:cNvPr>
          <p:cNvPicPr>
            <a:picLocks noChangeAspect="1"/>
          </p:cNvPicPr>
          <p:nvPr/>
        </p:nvPicPr>
        <p:blipFill rotWithShape="1">
          <a:blip r:embed="rId2">
            <a:extLst>
              <a:ext uri="{28A0092B-C50C-407E-A947-70E740481C1C}">
                <a14:useLocalDpi xmlns:a14="http://schemas.microsoft.com/office/drawing/2010/main" val="0"/>
              </a:ext>
            </a:extLst>
          </a:blip>
          <a:srcRect r="-2" b="3486"/>
          <a:stretch/>
        </p:blipFill>
        <p:spPr>
          <a:xfrm>
            <a:off x="1155556" y="637762"/>
            <a:ext cx="9889765" cy="3579308"/>
          </a:xfrm>
          <a:prstGeom prst="rect">
            <a:avLst/>
          </a:prstGeom>
        </p:spPr>
      </p:pic>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454411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AFFD9B-90F2-4A5B-8475-E6B919F9FDBD}"/>
              </a:ext>
            </a:extLst>
          </p:cNvPr>
          <p:cNvSpPr>
            <a:spLocks noGrp="1"/>
          </p:cNvSpPr>
          <p:nvPr>
            <p:ph idx="1"/>
          </p:nvPr>
        </p:nvSpPr>
        <p:spPr>
          <a:xfrm>
            <a:off x="6734649" y="4750698"/>
            <a:ext cx="4310672" cy="1463834"/>
          </a:xfrm>
        </p:spPr>
        <p:txBody>
          <a:bodyPr>
            <a:normAutofit/>
          </a:bodyPr>
          <a:lstStyle/>
          <a:p>
            <a:r>
              <a:rPr lang="en-US" sz="1600" kern="0">
                <a:effectLst/>
                <a:latin typeface="Open Sans" panose="020B0606030504020204" pitchFamily="34" charset="0"/>
                <a:ea typeface="Times New Roman" panose="02020603050405020304" pitchFamily="18" charset="0"/>
                <a:cs typeface="Times New Roman" panose="02020603050405020304" pitchFamily="18" charset="0"/>
              </a:rPr>
              <a:t>On the next screen, click </a:t>
            </a:r>
            <a:r>
              <a:rPr lang="en-US" sz="1600" b="1" kern="0">
                <a:effectLst/>
                <a:latin typeface="Open Sans" panose="020B0606030504020204" pitchFamily="34" charset="0"/>
                <a:ea typeface="Times New Roman" panose="02020603050405020304" pitchFamily="18" charset="0"/>
                <a:cs typeface="Times New Roman" panose="02020603050405020304" pitchFamily="18" charset="0"/>
              </a:rPr>
              <a:t>New </a:t>
            </a:r>
            <a:r>
              <a:rPr lang="en-US" sz="1600" kern="0">
                <a:effectLst/>
                <a:latin typeface="Open Sans" panose="020B0606030504020204" pitchFamily="34" charset="0"/>
                <a:ea typeface="Times New Roman" panose="02020603050405020304" pitchFamily="18" charset="0"/>
                <a:cs typeface="Times New Roman" panose="02020603050405020304" pitchFamily="18" charset="0"/>
              </a:rPr>
              <a:t>and add the full path to your </a:t>
            </a:r>
            <a:r>
              <a:rPr lang="en-US" sz="1600" i="1" kern="0">
                <a:effectLst/>
                <a:latin typeface="Open Sans" panose="020B0606030504020204" pitchFamily="34" charset="0"/>
                <a:ea typeface="Times New Roman" panose="02020603050405020304" pitchFamily="18" charset="0"/>
                <a:cs typeface="Times New Roman" panose="02020603050405020304" pitchFamily="18" charset="0"/>
              </a:rPr>
              <a:t>flutter\bin</a:t>
            </a:r>
            <a:r>
              <a:rPr lang="en-US" sz="1600" kern="0">
                <a:effectLst/>
                <a:latin typeface="Open Sans" panose="020B0606030504020204" pitchFamily="34" charset="0"/>
                <a:ea typeface="Times New Roman" panose="02020603050405020304" pitchFamily="18" charset="0"/>
                <a:cs typeface="Times New Roman" panose="02020603050405020304" pitchFamily="18" charset="0"/>
              </a:rPr>
              <a:t> directory. For this guide, it is shown below. Click OK on both windows to enable running Flutter commands in Windows consoles.</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a:p>
        </p:txBody>
      </p:sp>
    </p:spTree>
    <p:extLst>
      <p:ext uri="{BB962C8B-B14F-4D97-AF65-F5344CB8AC3E}">
        <p14:creationId xmlns:p14="http://schemas.microsoft.com/office/powerpoint/2010/main" val="136374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24FCE-7A25-4454-894D-E6454A957EAC}"/>
              </a:ext>
            </a:extLst>
          </p:cNvPr>
          <p:cNvSpPr>
            <a:spLocks noGrp="1"/>
          </p:cNvSpPr>
          <p:nvPr>
            <p:ph type="title"/>
          </p:nvPr>
        </p:nvSpPr>
        <p:spPr>
          <a:xfrm>
            <a:off x="4572001" y="85964"/>
            <a:ext cx="6781800" cy="1338696"/>
          </a:xfrm>
        </p:spPr>
        <p:txBody>
          <a:bodyPr>
            <a:normAutofit/>
          </a:bodyPr>
          <a:lstStyle/>
          <a:p>
            <a:r>
              <a:rPr lang="en-US" dirty="0"/>
              <a:t>1. </a:t>
            </a:r>
            <a:r>
              <a:rPr lang="en-IN" b="0" i="0" dirty="0">
                <a:solidFill>
                  <a:srgbClr val="212121"/>
                </a:solidFill>
                <a:effectLst/>
                <a:latin typeface="Google Sans"/>
              </a:rPr>
              <a:t>Use VS Code to install Flutter</a:t>
            </a:r>
            <a:endParaRPr lang="en-US" dirty="0"/>
          </a:p>
        </p:txBody>
      </p:sp>
      <p:pic>
        <p:nvPicPr>
          <p:cNvPr id="38" name="Picture 4" descr="Person watching empty phone">
            <a:extLst>
              <a:ext uri="{FF2B5EF4-FFF2-40B4-BE49-F238E27FC236}">
                <a16:creationId xmlns:a16="http://schemas.microsoft.com/office/drawing/2014/main" id="{D9DD78CA-EC22-35F6-5C19-A7534129DB08}"/>
              </a:ext>
            </a:extLst>
          </p:cNvPr>
          <p:cNvPicPr>
            <a:picLocks noChangeAspect="1"/>
          </p:cNvPicPr>
          <p:nvPr/>
        </p:nvPicPr>
        <p:blipFill rotWithShape="1">
          <a:blip r:embed="rId2"/>
          <a:srcRect l="47307" r="16147"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9" name="Content Placeholder 2">
            <a:extLst>
              <a:ext uri="{FF2B5EF4-FFF2-40B4-BE49-F238E27FC236}">
                <a16:creationId xmlns:a16="http://schemas.microsoft.com/office/drawing/2014/main" id="{EE303222-5A34-4C80-B6F9-3FED03D686D8}"/>
              </a:ext>
            </a:extLst>
          </p:cNvPr>
          <p:cNvSpPr>
            <a:spLocks noGrp="1"/>
          </p:cNvSpPr>
          <p:nvPr>
            <p:ph idx="1"/>
          </p:nvPr>
        </p:nvSpPr>
        <p:spPr>
          <a:xfrm>
            <a:off x="3954780" y="1325880"/>
            <a:ext cx="7399021" cy="4776808"/>
          </a:xfrm>
        </p:spPr>
        <p:txBody>
          <a:bodyPr anchor="t">
            <a:normAutofit/>
          </a:bodyPr>
          <a:lstStyle/>
          <a:p>
            <a:pPr marL="0" indent="0">
              <a:buNone/>
            </a:pPr>
            <a:r>
              <a:rPr lang="en-US" sz="1900" dirty="0"/>
              <a:t>Start Flutter install</a:t>
            </a:r>
          </a:p>
          <a:p>
            <a:r>
              <a:rPr lang="en-US" sz="1900" dirty="0"/>
              <a:t>Open VS Code.</a:t>
            </a:r>
          </a:p>
          <a:p>
            <a:r>
              <a:rPr lang="en-US" sz="1900" dirty="0"/>
              <a:t>To open the Command Palette, press Control + Shift + P.</a:t>
            </a:r>
          </a:p>
          <a:p>
            <a:r>
              <a:rPr lang="en-US" sz="1900" dirty="0"/>
              <a:t>In the Command Palette, type flutter.</a:t>
            </a:r>
          </a:p>
          <a:p>
            <a:pPr marL="0" indent="0">
              <a:buNone/>
            </a:pPr>
            <a:r>
              <a:rPr lang="en-US" sz="1900" dirty="0"/>
              <a:t>	Select Flutter: New Project.</a:t>
            </a:r>
          </a:p>
          <a:p>
            <a:r>
              <a:rPr lang="en-US" sz="1900" dirty="0"/>
              <a:t>VS Code prompts you to locate the Flutter SDK on your computer.</a:t>
            </a:r>
          </a:p>
          <a:p>
            <a:pPr marL="0" indent="0">
              <a:buNone/>
            </a:pPr>
            <a:r>
              <a:rPr lang="en-US" sz="1900" dirty="0"/>
              <a:t>	If you have the Flutter SDK installed, click Locate SDK.</a:t>
            </a:r>
          </a:p>
          <a:p>
            <a:pPr marL="0" indent="0">
              <a:buNone/>
            </a:pPr>
            <a:r>
              <a:rPr lang="en-US" sz="1900" dirty="0"/>
              <a:t>	If you do not have the Flutter SDK installed, click </a:t>
            </a:r>
            <a:r>
              <a:rPr lang="en-US" sz="1900" b="1" dirty="0"/>
              <a:t>Download SDK</a:t>
            </a:r>
            <a:endParaRPr lang="en-US" sz="1900" dirty="0"/>
          </a:p>
          <a:p>
            <a:r>
              <a:rPr lang="en-US" sz="1900" dirty="0"/>
              <a:t>This option sends you the Flutter install page if you have not installed Git for Windows as directed in the development tools prerequisites.</a:t>
            </a:r>
          </a:p>
          <a:p>
            <a:r>
              <a:rPr lang="en-US" sz="1900" dirty="0"/>
              <a:t>When prompted Which Flutter template?, ignore it. Press Esc. You can create a test project after checking your development setup.</a:t>
            </a:r>
          </a:p>
        </p:txBody>
      </p:sp>
    </p:spTree>
    <p:extLst>
      <p:ext uri="{BB962C8B-B14F-4D97-AF65-F5344CB8AC3E}">
        <p14:creationId xmlns:p14="http://schemas.microsoft.com/office/powerpoint/2010/main" val="1400185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EC6EC-6414-35B7-7F0B-8EBD980CC0F2}"/>
              </a:ext>
            </a:extLst>
          </p:cNvPr>
          <p:cNvSpPr>
            <a:spLocks noGrp="1"/>
          </p:cNvSpPr>
          <p:nvPr>
            <p:ph idx="1"/>
          </p:nvPr>
        </p:nvSpPr>
        <p:spPr>
          <a:xfrm>
            <a:off x="838200" y="262890"/>
            <a:ext cx="10515600" cy="5914073"/>
          </a:xfrm>
        </p:spPr>
        <p:txBody>
          <a:bodyPr/>
          <a:lstStyle/>
          <a:p>
            <a:pPr marL="0" indent="0">
              <a:buNone/>
            </a:pPr>
            <a:r>
              <a:rPr lang="en-IN" dirty="0"/>
              <a:t>Download the Flutter SDK</a:t>
            </a:r>
          </a:p>
          <a:p>
            <a:r>
              <a:rPr lang="en-IN" dirty="0"/>
              <a:t>When the Select Folder for Flutter SDK dialog displays, choose where you want to install Flutter.</a:t>
            </a:r>
          </a:p>
          <a:p>
            <a:pPr marL="914400" lvl="2" indent="0">
              <a:buNone/>
            </a:pPr>
            <a:r>
              <a:rPr lang="en-IN" dirty="0"/>
              <a:t>VS Code places you in your user profile to start. Choose a different location. If want to change</a:t>
            </a:r>
          </a:p>
          <a:p>
            <a:pPr marL="914400" lvl="2" indent="0">
              <a:buNone/>
            </a:pPr>
            <a:r>
              <a:rPr lang="en-IN" dirty="0"/>
              <a:t>Consider %USERPROFILE% or C:\dev.</a:t>
            </a:r>
          </a:p>
          <a:p>
            <a:pPr algn="l"/>
            <a:r>
              <a:rPr lang="en-US" b="0" i="0" dirty="0">
                <a:solidFill>
                  <a:srgbClr val="212121"/>
                </a:solidFill>
                <a:effectLst/>
                <a:latin typeface="Google Sans Text"/>
              </a:rPr>
              <a:t>Click </a:t>
            </a:r>
            <a:r>
              <a:rPr lang="en-US" b="1" i="0" dirty="0">
                <a:solidFill>
                  <a:srgbClr val="212121"/>
                </a:solidFill>
                <a:effectLst/>
                <a:latin typeface="Google Sans Text"/>
              </a:rPr>
              <a:t>Clone Flutter</a:t>
            </a:r>
            <a:r>
              <a:rPr lang="en-US" b="0" i="0" dirty="0">
                <a:solidFill>
                  <a:srgbClr val="212121"/>
                </a:solidFill>
                <a:effectLst/>
                <a:latin typeface="Google Sans Text"/>
              </a:rPr>
              <a:t>.</a:t>
            </a:r>
          </a:p>
          <a:p>
            <a:pPr marL="0" indent="0" algn="l">
              <a:buNone/>
            </a:pPr>
            <a:r>
              <a:rPr lang="en-US" b="0" i="0" dirty="0">
                <a:solidFill>
                  <a:srgbClr val="212121"/>
                </a:solidFill>
                <a:effectLst/>
                <a:latin typeface="Google Sans Text"/>
              </a:rPr>
              <a:t>		</a:t>
            </a:r>
            <a:r>
              <a:rPr lang="en-US" sz="1800" b="0" i="0" dirty="0">
                <a:solidFill>
                  <a:srgbClr val="212121"/>
                </a:solidFill>
                <a:effectLst/>
                <a:latin typeface="Google Sans Text"/>
              </a:rPr>
              <a:t>While downloading Flutter, VS Code displays this pop-up notification:</a:t>
            </a:r>
          </a:p>
          <a:p>
            <a:pPr marL="0" indent="0" algn="l">
              <a:buNone/>
            </a:pPr>
            <a:endParaRPr lang="en-US" sz="1800" b="0" i="0" dirty="0">
              <a:solidFill>
                <a:srgbClr val="212121"/>
              </a:solidFill>
              <a:effectLst/>
              <a:latin typeface="Google Sans Text"/>
            </a:endParaRPr>
          </a:p>
          <a:p>
            <a:pPr marL="0" indent="0" algn="l">
              <a:buNone/>
            </a:pPr>
            <a:endParaRPr lang="en-US" sz="1800" b="0" i="0" dirty="0">
              <a:solidFill>
                <a:srgbClr val="212121"/>
              </a:solidFill>
              <a:effectLst/>
              <a:latin typeface="Google Sans Text"/>
            </a:endParaRPr>
          </a:p>
          <a:p>
            <a:pPr algn="l"/>
            <a:r>
              <a:rPr lang="en-US" b="0" i="0" dirty="0">
                <a:solidFill>
                  <a:srgbClr val="212121"/>
                </a:solidFill>
                <a:effectLst/>
                <a:latin typeface="Google Sans Text"/>
              </a:rPr>
              <a:t>Once it finishes downloading Flutter, the </a:t>
            </a:r>
            <a:r>
              <a:rPr lang="en-US" b="1" i="0" dirty="0">
                <a:solidFill>
                  <a:srgbClr val="212121"/>
                </a:solidFill>
                <a:effectLst/>
                <a:latin typeface="Google Sans Text"/>
              </a:rPr>
              <a:t>Output</a:t>
            </a:r>
            <a:r>
              <a:rPr lang="en-US" b="0" i="0" dirty="0">
                <a:solidFill>
                  <a:srgbClr val="212121"/>
                </a:solidFill>
                <a:effectLst/>
                <a:latin typeface="Google Sans Text"/>
              </a:rPr>
              <a:t> panel displays.</a:t>
            </a:r>
          </a:p>
          <a:p>
            <a:pPr marL="0" indent="0">
              <a:buNone/>
            </a:pPr>
            <a:endParaRPr lang="en-IN" dirty="0"/>
          </a:p>
        </p:txBody>
      </p:sp>
      <p:pic>
        <p:nvPicPr>
          <p:cNvPr id="11" name="Picture 10">
            <a:extLst>
              <a:ext uri="{FF2B5EF4-FFF2-40B4-BE49-F238E27FC236}">
                <a16:creationId xmlns:a16="http://schemas.microsoft.com/office/drawing/2014/main" id="{499CF430-8E7B-7B91-72B1-77B984B89B12}"/>
              </a:ext>
            </a:extLst>
          </p:cNvPr>
          <p:cNvPicPr>
            <a:picLocks noChangeAspect="1"/>
          </p:cNvPicPr>
          <p:nvPr/>
        </p:nvPicPr>
        <p:blipFill>
          <a:blip r:embed="rId2"/>
          <a:stretch>
            <a:fillRect/>
          </a:stretch>
        </p:blipFill>
        <p:spPr>
          <a:xfrm>
            <a:off x="1520190" y="3577590"/>
            <a:ext cx="9621485" cy="788670"/>
          </a:xfrm>
          <a:prstGeom prst="rect">
            <a:avLst/>
          </a:prstGeom>
        </p:spPr>
      </p:pic>
      <p:pic>
        <p:nvPicPr>
          <p:cNvPr id="15" name="Picture 14">
            <a:extLst>
              <a:ext uri="{FF2B5EF4-FFF2-40B4-BE49-F238E27FC236}">
                <a16:creationId xmlns:a16="http://schemas.microsoft.com/office/drawing/2014/main" id="{F153B5D6-1C70-14FF-23F8-497B7D93BB52}"/>
              </a:ext>
            </a:extLst>
          </p:cNvPr>
          <p:cNvPicPr>
            <a:picLocks noChangeAspect="1"/>
          </p:cNvPicPr>
          <p:nvPr/>
        </p:nvPicPr>
        <p:blipFill>
          <a:blip r:embed="rId3"/>
          <a:stretch>
            <a:fillRect/>
          </a:stretch>
        </p:blipFill>
        <p:spPr>
          <a:xfrm>
            <a:off x="2432531" y="4935040"/>
            <a:ext cx="7511984" cy="985699"/>
          </a:xfrm>
          <a:prstGeom prst="rect">
            <a:avLst/>
          </a:prstGeom>
        </p:spPr>
      </p:pic>
    </p:spTree>
    <p:extLst>
      <p:ext uri="{BB962C8B-B14F-4D97-AF65-F5344CB8AC3E}">
        <p14:creationId xmlns:p14="http://schemas.microsoft.com/office/powerpoint/2010/main" val="174632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51362A-A1C6-D6F9-1FD1-C66045424C18}"/>
              </a:ext>
            </a:extLst>
          </p:cNvPr>
          <p:cNvSpPr>
            <a:spLocks noGrp="1"/>
          </p:cNvSpPr>
          <p:nvPr>
            <p:ph idx="1"/>
          </p:nvPr>
        </p:nvSpPr>
        <p:spPr>
          <a:xfrm>
            <a:off x="838200" y="468630"/>
            <a:ext cx="10763250" cy="6160770"/>
          </a:xfrm>
        </p:spPr>
        <p:txBody>
          <a:bodyPr>
            <a:normAutofit/>
          </a:bodyPr>
          <a:lstStyle/>
          <a:p>
            <a:r>
              <a:rPr lang="en-US" b="0" i="0" dirty="0">
                <a:solidFill>
                  <a:srgbClr val="212121"/>
                </a:solidFill>
                <a:effectLst/>
                <a:latin typeface="Google Sans Text"/>
              </a:rPr>
              <a:t>When successful, VS Code displays this pop-up notification:</a:t>
            </a:r>
          </a:p>
          <a:p>
            <a:endParaRPr lang="en-US" dirty="0">
              <a:solidFill>
                <a:srgbClr val="212121"/>
              </a:solidFill>
              <a:latin typeface="Google Sans Text"/>
            </a:endParaRPr>
          </a:p>
          <a:p>
            <a:endParaRPr lang="en-US" b="0" i="0" dirty="0">
              <a:solidFill>
                <a:srgbClr val="212121"/>
              </a:solidFill>
              <a:effectLst/>
              <a:latin typeface="Google Sans Text"/>
            </a:endParaRPr>
          </a:p>
          <a:p>
            <a:endParaRPr lang="en-US" dirty="0">
              <a:solidFill>
                <a:srgbClr val="212121"/>
              </a:solidFill>
              <a:latin typeface="Google Sans Text"/>
            </a:endParaRPr>
          </a:p>
          <a:p>
            <a:endParaRPr lang="en-US" b="0" i="0" dirty="0">
              <a:solidFill>
                <a:srgbClr val="212121"/>
              </a:solidFill>
              <a:effectLst/>
              <a:latin typeface="Google Sans Text"/>
            </a:endParaRPr>
          </a:p>
          <a:p>
            <a:endParaRPr lang="en-US" dirty="0">
              <a:solidFill>
                <a:srgbClr val="212121"/>
              </a:solidFill>
              <a:latin typeface="Google Sans Text"/>
            </a:endParaRPr>
          </a:p>
          <a:p>
            <a:endParaRPr lang="en-US" b="0" i="0" dirty="0">
              <a:solidFill>
                <a:srgbClr val="212121"/>
              </a:solidFill>
              <a:effectLst/>
              <a:latin typeface="Google Sans Text"/>
            </a:endParaRPr>
          </a:p>
          <a:p>
            <a:endParaRPr lang="en-US" dirty="0">
              <a:solidFill>
                <a:srgbClr val="212121"/>
              </a:solidFill>
              <a:latin typeface="Google Sans Text"/>
            </a:endParaRPr>
          </a:p>
          <a:p>
            <a:endParaRPr lang="en-US" b="0" i="0" dirty="0">
              <a:solidFill>
                <a:srgbClr val="212121"/>
              </a:solidFill>
              <a:effectLst/>
              <a:latin typeface="Google Sans Text"/>
            </a:endParaRPr>
          </a:p>
          <a:p>
            <a:endParaRPr lang="en-US" sz="2000" dirty="0">
              <a:solidFill>
                <a:srgbClr val="212121"/>
              </a:solidFill>
              <a:latin typeface="Google Sans Text"/>
            </a:endParaRPr>
          </a:p>
          <a:p>
            <a:r>
              <a:rPr lang="en-US" sz="2400" b="0" i="0" dirty="0">
                <a:solidFill>
                  <a:srgbClr val="212121"/>
                </a:solidFill>
                <a:effectLst/>
                <a:latin typeface="Google Sans Text"/>
              </a:rPr>
              <a:t>This process also runs flutter doctor -v. At this point in the procedure, ignore this output. Flutter Doctor might show errors that don’t apply to this quick start.</a:t>
            </a:r>
          </a:p>
          <a:p>
            <a:pPr marL="0" indent="0">
              <a:buNone/>
            </a:pPr>
            <a:endParaRPr lang="en-IN" dirty="0"/>
          </a:p>
        </p:txBody>
      </p:sp>
      <p:pic>
        <p:nvPicPr>
          <p:cNvPr id="5" name="Picture 4">
            <a:extLst>
              <a:ext uri="{FF2B5EF4-FFF2-40B4-BE49-F238E27FC236}">
                <a16:creationId xmlns:a16="http://schemas.microsoft.com/office/drawing/2014/main" id="{8BCEDA65-FA76-C493-1863-A806FD52FD36}"/>
              </a:ext>
            </a:extLst>
          </p:cNvPr>
          <p:cNvPicPr>
            <a:picLocks noChangeAspect="1"/>
          </p:cNvPicPr>
          <p:nvPr/>
        </p:nvPicPr>
        <p:blipFill>
          <a:blip r:embed="rId2"/>
          <a:stretch>
            <a:fillRect/>
          </a:stretch>
        </p:blipFill>
        <p:spPr>
          <a:xfrm>
            <a:off x="1051561" y="939171"/>
            <a:ext cx="8613954" cy="4569549"/>
          </a:xfrm>
          <a:prstGeom prst="rect">
            <a:avLst/>
          </a:prstGeom>
        </p:spPr>
      </p:pic>
    </p:spTree>
    <p:extLst>
      <p:ext uri="{BB962C8B-B14F-4D97-AF65-F5344CB8AC3E}">
        <p14:creationId xmlns:p14="http://schemas.microsoft.com/office/powerpoint/2010/main" val="3380624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A9EB14-3EAC-904F-BB7D-8D23F36DF960}"/>
              </a:ext>
            </a:extLst>
          </p:cNvPr>
          <p:cNvSpPr>
            <a:spLocks noGrp="1"/>
          </p:cNvSpPr>
          <p:nvPr>
            <p:ph idx="1"/>
          </p:nvPr>
        </p:nvSpPr>
        <p:spPr>
          <a:xfrm>
            <a:off x="838200" y="480060"/>
            <a:ext cx="10515600" cy="5696903"/>
          </a:xfrm>
        </p:spPr>
        <p:txBody>
          <a:bodyPr/>
          <a:lstStyle/>
          <a:p>
            <a:r>
              <a:rPr lang="en-US" b="0" i="0" dirty="0">
                <a:solidFill>
                  <a:srgbClr val="212121"/>
                </a:solidFill>
                <a:effectLst/>
                <a:latin typeface="Google Sans Text"/>
              </a:rPr>
              <a:t>When the Flutter install succeeds, VS Code displays this pop-up notification:</a:t>
            </a:r>
          </a:p>
          <a:p>
            <a:endParaRPr lang="en-US" dirty="0">
              <a:solidFill>
                <a:srgbClr val="212121"/>
              </a:solidFill>
              <a:latin typeface="Google Sans Text"/>
            </a:endParaRPr>
          </a:p>
          <a:p>
            <a:endParaRPr lang="en-US" b="0" i="0" dirty="0">
              <a:solidFill>
                <a:srgbClr val="212121"/>
              </a:solidFill>
              <a:effectLst/>
              <a:latin typeface="Google Sans Text"/>
            </a:endParaRPr>
          </a:p>
          <a:p>
            <a:pPr algn="l"/>
            <a:r>
              <a:rPr lang="en-US" b="0" i="0" dirty="0">
                <a:solidFill>
                  <a:srgbClr val="212121"/>
                </a:solidFill>
                <a:effectLst/>
                <a:latin typeface="Google Sans Text"/>
              </a:rPr>
              <a:t>Click </a:t>
            </a:r>
            <a:r>
              <a:rPr lang="en-US" b="1" i="0" dirty="0">
                <a:solidFill>
                  <a:srgbClr val="212121"/>
                </a:solidFill>
                <a:effectLst/>
                <a:latin typeface="Google Sans Text"/>
              </a:rPr>
              <a:t>Add SDK to PATH</a:t>
            </a:r>
            <a:r>
              <a:rPr lang="en-US" b="0" i="0" dirty="0">
                <a:solidFill>
                  <a:srgbClr val="212121"/>
                </a:solidFill>
                <a:effectLst/>
                <a:latin typeface="Google Sans Text"/>
              </a:rPr>
              <a:t>.</a:t>
            </a:r>
          </a:p>
          <a:p>
            <a:pPr algn="l"/>
            <a:r>
              <a:rPr lang="en-US" b="0" i="0" dirty="0">
                <a:solidFill>
                  <a:srgbClr val="212121"/>
                </a:solidFill>
                <a:effectLst/>
                <a:latin typeface="Google Sans Text"/>
              </a:rPr>
              <a:t>When successful, a notification displays:</a:t>
            </a:r>
          </a:p>
          <a:p>
            <a:pPr marL="0" indent="0">
              <a:buNone/>
            </a:pPr>
            <a:endParaRPr lang="en-US" b="0" i="0" dirty="0">
              <a:solidFill>
                <a:srgbClr val="212121"/>
              </a:solidFill>
              <a:effectLst/>
              <a:latin typeface="Google Sans Text"/>
            </a:endParaRPr>
          </a:p>
          <a:p>
            <a:endParaRPr lang="en-IN" dirty="0"/>
          </a:p>
          <a:p>
            <a:endParaRPr lang="en-IN" dirty="0"/>
          </a:p>
        </p:txBody>
      </p:sp>
      <p:pic>
        <p:nvPicPr>
          <p:cNvPr id="5" name="Picture 4">
            <a:extLst>
              <a:ext uri="{FF2B5EF4-FFF2-40B4-BE49-F238E27FC236}">
                <a16:creationId xmlns:a16="http://schemas.microsoft.com/office/drawing/2014/main" id="{214C9707-DC91-5460-2BFE-38F693C186A8}"/>
              </a:ext>
            </a:extLst>
          </p:cNvPr>
          <p:cNvPicPr>
            <a:picLocks noChangeAspect="1"/>
          </p:cNvPicPr>
          <p:nvPr/>
        </p:nvPicPr>
        <p:blipFill>
          <a:blip r:embed="rId2"/>
          <a:stretch>
            <a:fillRect/>
          </a:stretch>
        </p:blipFill>
        <p:spPr>
          <a:xfrm>
            <a:off x="1214993" y="1405890"/>
            <a:ext cx="9291556" cy="902970"/>
          </a:xfrm>
          <a:prstGeom prst="rect">
            <a:avLst/>
          </a:prstGeom>
        </p:spPr>
      </p:pic>
      <p:pic>
        <p:nvPicPr>
          <p:cNvPr id="7" name="Picture 6">
            <a:extLst>
              <a:ext uri="{FF2B5EF4-FFF2-40B4-BE49-F238E27FC236}">
                <a16:creationId xmlns:a16="http://schemas.microsoft.com/office/drawing/2014/main" id="{8D7A82F5-245E-9E96-7D6C-2F056A0F6810}"/>
              </a:ext>
            </a:extLst>
          </p:cNvPr>
          <p:cNvPicPr>
            <a:picLocks noChangeAspect="1"/>
          </p:cNvPicPr>
          <p:nvPr/>
        </p:nvPicPr>
        <p:blipFill>
          <a:blip r:embed="rId3"/>
          <a:stretch>
            <a:fillRect/>
          </a:stretch>
        </p:blipFill>
        <p:spPr>
          <a:xfrm>
            <a:off x="1542897" y="3451860"/>
            <a:ext cx="7131449" cy="605790"/>
          </a:xfrm>
          <a:prstGeom prst="rect">
            <a:avLst/>
          </a:prstGeom>
        </p:spPr>
      </p:pic>
    </p:spTree>
    <p:extLst>
      <p:ext uri="{BB962C8B-B14F-4D97-AF65-F5344CB8AC3E}">
        <p14:creationId xmlns:p14="http://schemas.microsoft.com/office/powerpoint/2010/main" val="943007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ethoscope">
            <a:extLst>
              <a:ext uri="{FF2B5EF4-FFF2-40B4-BE49-F238E27FC236}">
                <a16:creationId xmlns:a16="http://schemas.microsoft.com/office/drawing/2014/main" id="{65CED444-E9E1-A6BA-6294-3E1394EC587C}"/>
              </a:ext>
            </a:extLst>
          </p:cNvPr>
          <p:cNvPicPr>
            <a:picLocks noChangeAspect="1"/>
          </p:cNvPicPr>
          <p:nvPr/>
        </p:nvPicPr>
        <p:blipFill rotWithShape="1">
          <a:blip r:embed="rId2"/>
          <a:srcRect l="26435" r="20906"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5FB8E5-20A5-4BC6-812D-77DD522D8396}"/>
              </a:ext>
            </a:extLst>
          </p:cNvPr>
          <p:cNvSpPr>
            <a:spLocks noGrp="1"/>
          </p:cNvSpPr>
          <p:nvPr>
            <p:ph type="title"/>
          </p:nvPr>
        </p:nvSpPr>
        <p:spPr>
          <a:xfrm>
            <a:off x="6115317" y="405685"/>
            <a:ext cx="5464968" cy="1559301"/>
          </a:xfrm>
        </p:spPr>
        <p:txBody>
          <a:bodyPr>
            <a:normAutofit/>
          </a:bodyPr>
          <a:lstStyle/>
          <a:p>
            <a:r>
              <a:rPr lang="en-US" sz="4000" b="1" kern="100">
                <a:effectLst/>
                <a:latin typeface="Calibri" panose="020F0502020204030204" pitchFamily="34" charset="0"/>
                <a:ea typeface="Calibri" panose="020F0502020204030204" pitchFamily="34" charset="0"/>
                <a:cs typeface="Times New Roman" panose="02020603050405020304" pitchFamily="18" charset="0"/>
              </a:rPr>
              <a:t>Run Flutter Doctor:</a:t>
            </a:r>
            <a:br>
              <a:rPr lang="en-US" sz="4000" kern="100">
                <a:effectLst/>
                <a:latin typeface="Calibri" panose="020F0502020204030204" pitchFamily="34" charset="0"/>
                <a:ea typeface="Calibri" panose="020F0502020204030204" pitchFamily="34" charset="0"/>
                <a:cs typeface="Times New Roman" panose="02020603050405020304" pitchFamily="18" charset="0"/>
              </a:rPr>
            </a:br>
            <a:endParaRPr lang="en-US" sz="4000"/>
          </a:p>
        </p:txBody>
      </p:sp>
      <p:sp>
        <p:nvSpPr>
          <p:cNvPr id="3" name="Content Placeholder 2">
            <a:extLst>
              <a:ext uri="{FF2B5EF4-FFF2-40B4-BE49-F238E27FC236}">
                <a16:creationId xmlns:a16="http://schemas.microsoft.com/office/drawing/2014/main" id="{A9FC37AE-CA6C-47E1-81B7-88325AFD1062}"/>
              </a:ext>
            </a:extLst>
          </p:cNvPr>
          <p:cNvSpPr>
            <a:spLocks noGrp="1"/>
          </p:cNvSpPr>
          <p:nvPr>
            <p:ph idx="1"/>
          </p:nvPr>
        </p:nvSpPr>
        <p:spPr>
          <a:xfrm>
            <a:off x="6115317" y="2743200"/>
            <a:ext cx="5247340" cy="3496878"/>
          </a:xfrm>
        </p:spPr>
        <p:txBody>
          <a:bodyPr anchor="ctr">
            <a:normAutofit/>
          </a:bodyPr>
          <a:lstStyle/>
          <a:p>
            <a:pPr marL="0" marR="0" indent="0">
              <a:spcBef>
                <a:spcPts val="0"/>
              </a:spcBef>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Open a terminal window and run flutter doctor.</a:t>
            </a:r>
          </a:p>
          <a:p>
            <a:pPr marL="0" marR="0" indent="0">
              <a:spcBef>
                <a:spcPts val="0"/>
              </a:spcBef>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This command checks your system for any missing dependencies needed for Flutter development.</a:t>
            </a:r>
          </a:p>
          <a:p>
            <a:pPr marL="0" marR="0" indent="0">
              <a:spcBef>
                <a:spcPts val="0"/>
              </a:spcBef>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Install any missing dependencies according to the recommendations.</a:t>
            </a:r>
          </a:p>
          <a:p>
            <a:pPr marL="0" indent="0">
              <a:buNone/>
            </a:pPr>
            <a:endParaRPr lang="en-US" sz="2000" dirty="0"/>
          </a:p>
        </p:txBody>
      </p:sp>
    </p:spTree>
    <p:extLst>
      <p:ext uri="{BB962C8B-B14F-4D97-AF65-F5344CB8AC3E}">
        <p14:creationId xmlns:p14="http://schemas.microsoft.com/office/powerpoint/2010/main" val="1804807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8B117-C374-4F4E-8B5E-694FECA589FD}"/>
              </a:ext>
            </a:extLst>
          </p:cNvPr>
          <p:cNvSpPr>
            <a:spLocks noGrp="1"/>
          </p:cNvSpPr>
          <p:nvPr>
            <p:ph type="title"/>
          </p:nvPr>
        </p:nvSpPr>
        <p:spPr>
          <a:xfrm>
            <a:off x="481013" y="3752849"/>
            <a:ext cx="3290887" cy="2452687"/>
          </a:xfrm>
        </p:spPr>
        <p:txBody>
          <a:bodyPr anchor="ctr">
            <a:normAutofit/>
          </a:bodyPr>
          <a:lstStyle/>
          <a:p>
            <a:r>
              <a:rPr lang="en-US" sz="3100" b="1" kern="0">
                <a:effectLst/>
                <a:latin typeface="Open Sans" panose="020B0606030504020204" pitchFamily="34" charset="0"/>
                <a:ea typeface="Times New Roman" panose="02020603050405020304" pitchFamily="18" charset="0"/>
                <a:cs typeface="Times New Roman" panose="02020603050405020304" pitchFamily="18" charset="0"/>
              </a:rPr>
              <a:t>Step 4: Confirm Installed Tools for Running Flutter</a:t>
            </a:r>
            <a:br>
              <a:rPr lang="en-US" sz="3100" kern="100">
                <a:effectLst/>
                <a:latin typeface="Calibri" panose="020F0502020204030204" pitchFamily="34" charset="0"/>
                <a:ea typeface="Calibri" panose="020F0502020204030204" pitchFamily="34" charset="0"/>
                <a:cs typeface="Times New Roman" panose="02020603050405020304" pitchFamily="18" charset="0"/>
              </a:rPr>
            </a:br>
            <a:endParaRPr lang="en-US" sz="3100"/>
          </a:p>
        </p:txBody>
      </p:sp>
      <p:pic>
        <p:nvPicPr>
          <p:cNvPr id="5" name="Picture 4" descr="A screenshot of a computer&#10;&#10;Description automatically generated">
            <a:extLst>
              <a:ext uri="{FF2B5EF4-FFF2-40B4-BE49-F238E27FC236}">
                <a16:creationId xmlns:a16="http://schemas.microsoft.com/office/drawing/2014/main" id="{F0B9A889-D6BB-4F6A-9778-74216D78E9A1}"/>
              </a:ext>
            </a:extLst>
          </p:cNvPr>
          <p:cNvPicPr>
            <a:picLocks noChangeAspect="1"/>
          </p:cNvPicPr>
          <p:nvPr/>
        </p:nvPicPr>
        <p:blipFill rotWithShape="1">
          <a:blip r:embed="rId2">
            <a:extLst>
              <a:ext uri="{28A0092B-C50C-407E-A947-70E740481C1C}">
                <a14:useLocalDpi xmlns:a14="http://schemas.microsoft.com/office/drawing/2010/main" val="0"/>
              </a:ext>
            </a:extLst>
          </a:blip>
          <a:srcRect t="3801" b="15577"/>
          <a:stretch/>
        </p:blipFill>
        <p:spPr>
          <a:xfrm>
            <a:off x="409876" y="727719"/>
            <a:ext cx="8299783" cy="2526021"/>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796FC0C4-0211-47CA-9115-65F35680A8E3}"/>
              </a:ext>
            </a:extLst>
          </p:cNvPr>
          <p:cNvSpPr>
            <a:spLocks noGrp="1"/>
          </p:cNvSpPr>
          <p:nvPr>
            <p:ph idx="1"/>
          </p:nvPr>
        </p:nvSpPr>
        <p:spPr>
          <a:xfrm>
            <a:off x="4223982" y="3752850"/>
            <a:ext cx="7485413" cy="2452687"/>
          </a:xfrm>
        </p:spPr>
        <p:txBody>
          <a:bodyPr anchor="ctr">
            <a:normAutofit/>
          </a:bodyPr>
          <a:lstStyle/>
          <a:p>
            <a:endParaRPr lang="en-US" sz="1800" kern="0">
              <a:effectLst/>
              <a:latin typeface="Open Sans" panose="020B0606030504020204" pitchFamily="34" charset="0"/>
              <a:ea typeface="Times New Roman" panose="02020603050405020304" pitchFamily="18" charset="0"/>
              <a:cs typeface="Times New Roman" panose="02020603050405020304" pitchFamily="18" charset="0"/>
            </a:endParaRPr>
          </a:p>
          <a:p>
            <a:endParaRPr lang="en-US" sz="1800" kern="0">
              <a:effectLst/>
              <a:latin typeface="Open Sans" panose="020B0606030504020204" pitchFamily="34" charset="0"/>
              <a:ea typeface="Times New Roman" panose="02020603050405020304" pitchFamily="18" charset="0"/>
              <a:cs typeface="Times New Roman" panose="02020603050405020304" pitchFamily="18" charset="0"/>
            </a:endParaRPr>
          </a:p>
          <a:p>
            <a:r>
              <a:rPr lang="en-US" sz="1800" kern="0">
                <a:effectLst/>
                <a:latin typeface="Open Sans" panose="020B0606030504020204" pitchFamily="34" charset="0"/>
                <a:ea typeface="Times New Roman" panose="02020603050405020304" pitchFamily="18" charset="0"/>
                <a:cs typeface="Times New Roman" panose="02020603050405020304" pitchFamily="18" charset="0"/>
              </a:rPr>
              <a:t>In CMD, run the </a:t>
            </a:r>
            <a:r>
              <a:rPr lang="en-US" sz="1800" i="1" kern="0">
                <a:effectLst/>
                <a:latin typeface="Open Sans" panose="020B0606030504020204" pitchFamily="34" charset="0"/>
                <a:ea typeface="Times New Roman" panose="02020603050405020304" pitchFamily="18" charset="0"/>
                <a:cs typeface="Times New Roman" panose="02020603050405020304" pitchFamily="18" charset="0"/>
              </a:rPr>
              <a:t>flutter doctor </a:t>
            </a:r>
            <a:r>
              <a:rPr lang="en-US" sz="1800" kern="0">
                <a:effectLst/>
                <a:latin typeface="Open Sans" panose="020B0606030504020204" pitchFamily="34" charset="0"/>
                <a:ea typeface="Times New Roman" panose="02020603050405020304" pitchFamily="18" charset="0"/>
                <a:cs typeface="Times New Roman" panose="02020603050405020304" pitchFamily="18" charset="0"/>
              </a:rPr>
              <a:t>command to confirm the installed tools along with brief descriptions.</a:t>
            </a:r>
          </a:p>
          <a:p>
            <a:r>
              <a:rPr lang="en-US" sz="1800" kern="0">
                <a:effectLst/>
                <a:latin typeface="Open Sans" panose="020B0606030504020204" pitchFamily="34" charset="0"/>
                <a:ea typeface="Times New Roman" panose="02020603050405020304" pitchFamily="18" charset="0"/>
                <a:cs typeface="Times New Roman" panose="02020603050405020304" pitchFamily="18" charset="0"/>
              </a:rPr>
              <a:t>As visible, several components still need to be installed to complete the installation.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a:p>
        </p:txBody>
      </p:sp>
    </p:spTree>
    <p:extLst>
      <p:ext uri="{BB962C8B-B14F-4D97-AF65-F5344CB8AC3E}">
        <p14:creationId xmlns:p14="http://schemas.microsoft.com/office/powerpoint/2010/main" val="1780714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EC6E785-3376-4915-A95B-6CDC62215C79}"/>
              </a:ext>
            </a:extLst>
          </p:cNvPr>
          <p:cNvSpPr>
            <a:spLocks noGrp="1"/>
          </p:cNvSpPr>
          <p:nvPr>
            <p:ph type="title"/>
          </p:nvPr>
        </p:nvSpPr>
        <p:spPr>
          <a:xfrm>
            <a:off x="1861854" y="633046"/>
            <a:ext cx="4834021" cy="1314996"/>
          </a:xfrm>
        </p:spPr>
        <p:txBody>
          <a:bodyPr anchor="b">
            <a:normAutofit/>
          </a:bodyPr>
          <a:lstStyle/>
          <a:p>
            <a:br>
              <a:rPr lang="en-US" sz="1800" b="1">
                <a:solidFill>
                  <a:schemeClr val="bg1"/>
                </a:solidFill>
                <a:effectLst/>
                <a:latin typeface="Open Sans" panose="020B0606030504020204" pitchFamily="34" charset="0"/>
                <a:ea typeface="Times New Roman" panose="02020603050405020304" pitchFamily="18" charset="0"/>
              </a:rPr>
            </a:br>
            <a:r>
              <a:rPr lang="en-US" sz="1800" b="1">
                <a:solidFill>
                  <a:schemeClr val="bg1"/>
                </a:solidFill>
                <a:effectLst/>
                <a:latin typeface="Open Sans" panose="020B0606030504020204" pitchFamily="34" charset="0"/>
                <a:ea typeface="Times New Roman" panose="02020603050405020304" pitchFamily="18" charset="0"/>
              </a:rPr>
              <a:t>Step 5: Download and Install Android Studio (Main)  then after  Xcode</a:t>
            </a:r>
            <a:br>
              <a:rPr lang="en-US" sz="1800" b="1">
                <a:solidFill>
                  <a:schemeClr val="bg1"/>
                </a:solidFill>
                <a:effectLst/>
                <a:latin typeface="Times New Roman" panose="02020603050405020304" pitchFamily="18" charset="0"/>
                <a:ea typeface="Times New Roman" panose="02020603050405020304" pitchFamily="18" charset="0"/>
              </a:rPr>
            </a:br>
            <a:endParaRPr lang="en-US" sz="1800">
              <a:solidFill>
                <a:schemeClr val="bg1"/>
              </a:solidFill>
            </a:endParaRPr>
          </a:p>
        </p:txBody>
      </p:sp>
      <p:sp>
        <p:nvSpPr>
          <p:cNvPr id="3" name="Content Placeholder 2">
            <a:extLst>
              <a:ext uri="{FF2B5EF4-FFF2-40B4-BE49-F238E27FC236}">
                <a16:creationId xmlns:a16="http://schemas.microsoft.com/office/drawing/2014/main" id="{A7538E0E-88D0-4257-AA79-00E9547802AC}"/>
              </a:ext>
            </a:extLst>
          </p:cNvPr>
          <p:cNvSpPr>
            <a:spLocks noGrp="1"/>
          </p:cNvSpPr>
          <p:nvPr>
            <p:ph idx="1"/>
          </p:nvPr>
        </p:nvSpPr>
        <p:spPr>
          <a:xfrm>
            <a:off x="1861854" y="2125737"/>
            <a:ext cx="4834021" cy="4044463"/>
          </a:xfrm>
        </p:spPr>
        <p:txBody>
          <a:bodyPr>
            <a:normAutofit/>
          </a:bodyPr>
          <a:lstStyle/>
          <a:p>
            <a:pPr marL="0" marR="0" indent="0">
              <a:spcBef>
                <a:spcPts val="0"/>
              </a:spcBef>
              <a:spcAft>
                <a:spcPts val="800"/>
              </a:spcAft>
              <a:buNone/>
            </a:pPr>
            <a:r>
              <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You'll need an integrated development environment (IDE) to write and manage your Flutter code. Android Studio is for Android app development, while </a:t>
            </a:r>
            <a:r>
              <a:rPr lang="en-US" sz="1300" kern="1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Xcode</a:t>
            </a:r>
            <a:r>
              <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is for iOS app development. You can choose either one based on your target platform(s):</a:t>
            </a:r>
          </a:p>
          <a:p>
            <a:pPr marL="342900" marR="0" lvl="0" indent="-342900">
              <a:spcBef>
                <a:spcPts val="0"/>
              </a:spcBef>
              <a:spcAft>
                <a:spcPts val="800"/>
              </a:spcAft>
              <a:buFont typeface="+mj-lt"/>
              <a:buAutoNum type="alphaLcPeriod"/>
            </a:pPr>
            <a:r>
              <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Android Studio (for Android development):</a:t>
            </a:r>
          </a:p>
          <a:p>
            <a:pPr marL="0" marR="0" indent="0">
              <a:spcBef>
                <a:spcPts val="0"/>
              </a:spcBef>
              <a:spcAft>
                <a:spcPts val="800"/>
              </a:spcAft>
              <a:buNone/>
            </a:pPr>
            <a:endParaRPr lang="en-US" sz="1300" kern="100" dirty="0">
              <a:solidFill>
                <a:schemeClr val="bg1"/>
              </a:solidFill>
              <a:latin typeface="Open Sans" panose="020B060603050402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300" kern="100" dirty="0">
                <a:solidFill>
                  <a:schemeClr val="bg1"/>
                </a:solidFill>
                <a:effectLst/>
                <a:latin typeface="Open Sans" panose="020B0606030504020204" pitchFamily="34" charset="0"/>
                <a:ea typeface="Calibri" panose="020F0502020204030204" pitchFamily="34" charset="0"/>
                <a:cs typeface="Times New Roman" panose="02020603050405020304" pitchFamily="18" charset="0"/>
              </a:rPr>
              <a:t>Continue by downloading Android Studio. In the setup, unless you have specific requirements, you can click Next on all screens leaving the default settings. Ensure that the</a:t>
            </a:r>
          </a:p>
          <a:p>
            <a:pPr marL="0" marR="0" indent="0">
              <a:spcBef>
                <a:spcPts val="0"/>
              </a:spcBef>
              <a:spcAft>
                <a:spcPts val="800"/>
              </a:spcAft>
              <a:buNone/>
            </a:pPr>
            <a:r>
              <a:rPr lang="en-US" sz="1300" kern="100" dirty="0">
                <a:solidFill>
                  <a:schemeClr val="bg1"/>
                </a:solidFill>
                <a:effectLst/>
                <a:latin typeface="Open Sans" panose="020B0606030504020204" pitchFamily="34" charset="0"/>
                <a:ea typeface="Calibri" panose="020F0502020204030204" pitchFamily="34" charset="0"/>
                <a:cs typeface="Times New Roman" panose="02020603050405020304" pitchFamily="18" charset="0"/>
              </a:rPr>
              <a:t> Android Virtual Device option is selected on the Choose Components screen so that you can have an Android emulator running for Android app development.</a:t>
            </a:r>
            <a:endPar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Download Android Studio from: </a:t>
            </a:r>
            <a:r>
              <a:rPr lang="en-US" sz="1300" u="sng"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hlinkClick r:id="rId2"/>
              </a:rPr>
              <a:t>https://developer.android.com/studio</a:t>
            </a:r>
            <a:endPar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Install Android Studio by following the installation wizard.</a:t>
            </a:r>
          </a:p>
          <a:p>
            <a:pPr marL="0" marR="0" indent="0">
              <a:spcBef>
                <a:spcPts val="0"/>
              </a:spcBef>
              <a:spcAft>
                <a:spcPts val="800"/>
              </a:spcAft>
              <a:buNone/>
            </a:pPr>
            <a:r>
              <a:rPr lang="en-US" sz="13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During installation, make sure to select the "Android" and "Flutter" plugins to install.</a:t>
            </a:r>
          </a:p>
          <a:p>
            <a:endParaRPr lang="en-US" sz="1300" dirty="0">
              <a:solidFill>
                <a:schemeClr val="bg1"/>
              </a:solidFill>
            </a:endParaRPr>
          </a:p>
        </p:txBody>
      </p:sp>
      <p:pic>
        <p:nvPicPr>
          <p:cNvPr id="7" name="Graphic 6" descr="Tablet">
            <a:extLst>
              <a:ext uri="{FF2B5EF4-FFF2-40B4-BE49-F238E27FC236}">
                <a16:creationId xmlns:a16="http://schemas.microsoft.com/office/drawing/2014/main" id="{96492934-C5C1-AC4A-E296-B55725C07B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95875" y="346784"/>
            <a:ext cx="2933908" cy="2933908"/>
          </a:xfrm>
          <a:prstGeom prst="rect">
            <a:avLst/>
          </a:prstGeom>
        </p:spPr>
      </p:pic>
      <p:grpSp>
        <p:nvGrpSpPr>
          <p:cNvPr id="2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1"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834578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85C6742-354A-447E-9CDB-EAE3571F0B4D}"/>
              </a:ext>
            </a:extLst>
          </p:cNvPr>
          <p:cNvSpPr>
            <a:spLocks noGrp="1"/>
          </p:cNvSpPr>
          <p:nvPr>
            <p:ph type="title"/>
          </p:nvPr>
        </p:nvSpPr>
        <p:spPr>
          <a:xfrm>
            <a:off x="1861854" y="633046"/>
            <a:ext cx="4834021" cy="1314996"/>
          </a:xfrm>
        </p:spPr>
        <p:txBody>
          <a:bodyPr anchor="b">
            <a:normAutofit/>
          </a:bodyPr>
          <a:lstStyle/>
          <a:p>
            <a:r>
              <a:rPr lang="en-US" sz="3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Step 6: Set Up Emulators:</a:t>
            </a:r>
            <a:br>
              <a:rPr lang="en-US" sz="3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en-US" sz="3400">
              <a:solidFill>
                <a:schemeClr val="bg1"/>
              </a:solidFill>
            </a:endParaRPr>
          </a:p>
        </p:txBody>
      </p:sp>
      <p:sp>
        <p:nvSpPr>
          <p:cNvPr id="51" name="Content Placeholder 2">
            <a:extLst>
              <a:ext uri="{FF2B5EF4-FFF2-40B4-BE49-F238E27FC236}">
                <a16:creationId xmlns:a16="http://schemas.microsoft.com/office/drawing/2014/main" id="{6DCFFACC-B754-4078-B681-80A608E824C1}"/>
              </a:ext>
            </a:extLst>
          </p:cNvPr>
          <p:cNvSpPr>
            <a:spLocks noGrp="1"/>
          </p:cNvSpPr>
          <p:nvPr>
            <p:ph idx="1"/>
          </p:nvPr>
        </p:nvSpPr>
        <p:spPr>
          <a:xfrm>
            <a:off x="1861854" y="2125737"/>
            <a:ext cx="4834021" cy="4044463"/>
          </a:xfrm>
        </p:spPr>
        <p:txBody>
          <a:bodyPr>
            <a:normAutofit/>
          </a:bodyPr>
          <a:lstStyle/>
          <a:p>
            <a:pPr marL="0" marR="0" indent="0">
              <a:spcBef>
                <a:spcPts val="0"/>
              </a:spcBef>
              <a:spcAft>
                <a:spcPts val="800"/>
              </a:spcAft>
              <a:buNone/>
            </a:pPr>
            <a:r>
              <a:rPr lang="en-US" sz="15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Emulators allow you to test your apps without using physical devices. Flutter comes with a command-line tool called "flutter emulators" that helps you manage and launch emulators.</a:t>
            </a:r>
          </a:p>
          <a:p>
            <a:pPr marL="0" marR="0" indent="0">
              <a:spcBef>
                <a:spcPts val="0"/>
              </a:spcBef>
              <a:spcAft>
                <a:spcPts val="800"/>
              </a:spcAft>
              <a:buNone/>
            </a:pPr>
            <a:r>
              <a:rPr lang="en-US" sz="15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 Android Emulator (from Android Studio):</a:t>
            </a:r>
          </a:p>
          <a:p>
            <a:pPr marL="0" marR="0" indent="0">
              <a:spcBef>
                <a:spcPts val="0"/>
              </a:spcBef>
              <a:spcAft>
                <a:spcPts val="800"/>
              </a:spcAft>
              <a:buNone/>
            </a:pPr>
            <a:r>
              <a:rPr lang="en-US" sz="15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Open Android Studio.</a:t>
            </a:r>
          </a:p>
          <a:p>
            <a:pPr marL="0" marR="0" indent="0">
              <a:spcBef>
                <a:spcPts val="0"/>
              </a:spcBef>
              <a:spcAft>
                <a:spcPts val="800"/>
              </a:spcAft>
              <a:buNone/>
            </a:pPr>
            <a:r>
              <a:rPr lang="en-US" sz="15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Click on "Configure" in the welcome screen, then choose "AVD Manager."</a:t>
            </a:r>
          </a:p>
          <a:p>
            <a:pPr marL="0" marR="0" indent="0">
              <a:spcBef>
                <a:spcPts val="0"/>
              </a:spcBef>
              <a:spcAft>
                <a:spcPts val="800"/>
              </a:spcAft>
              <a:buNone/>
            </a:pPr>
            <a:r>
              <a:rPr lang="en-US" sz="15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Create a new Android Virtual Device (AVD) by clicking on the "+ Create Virtual Device" button.</a:t>
            </a:r>
          </a:p>
          <a:p>
            <a:pPr marL="0" marR="0" indent="0">
              <a:spcBef>
                <a:spcPts val="0"/>
              </a:spcBef>
              <a:spcAft>
                <a:spcPts val="800"/>
              </a:spcAft>
              <a:buNone/>
            </a:pPr>
            <a:r>
              <a:rPr lang="en-US" sz="15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Choose a device definition, select a system image (preferably with Google Play), and configure other settings.</a:t>
            </a:r>
          </a:p>
          <a:p>
            <a:pPr marL="0" marR="0" indent="0">
              <a:spcBef>
                <a:spcPts val="0"/>
              </a:spcBef>
              <a:spcAft>
                <a:spcPts val="800"/>
              </a:spcAft>
              <a:buNone/>
            </a:pPr>
            <a:r>
              <a:rPr lang="en-US" sz="15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Start the emulator from the AVD Manager.</a:t>
            </a:r>
          </a:p>
          <a:p>
            <a:endParaRPr lang="en-US" sz="1500" dirty="0">
              <a:solidFill>
                <a:schemeClr val="bg1"/>
              </a:solidFill>
            </a:endParaRPr>
          </a:p>
        </p:txBody>
      </p:sp>
      <p:pic>
        <p:nvPicPr>
          <p:cNvPr id="7" name="Graphic 6" descr="Robot">
            <a:extLst>
              <a:ext uri="{FF2B5EF4-FFF2-40B4-BE49-F238E27FC236}">
                <a16:creationId xmlns:a16="http://schemas.microsoft.com/office/drawing/2014/main" id="{AB578424-DF82-4037-B779-8A38D5A321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5473" y="1200223"/>
            <a:ext cx="4072815" cy="4072815"/>
          </a:xfrm>
          <a:prstGeom prst="rect">
            <a:avLst/>
          </a:prstGeom>
        </p:spPr>
      </p:pic>
      <p:grpSp>
        <p:nvGrpSpPr>
          <p:cNvPr id="2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1"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76408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85C3B6D-87B0-45F8-82DB-05ED9B0F378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What you will see</a:t>
            </a:r>
          </a:p>
        </p:txBody>
      </p:sp>
      <p:pic>
        <p:nvPicPr>
          <p:cNvPr id="5" name="Content Placeholder 4" descr="A screenshot of a computer setup&#10;&#10;Description automatically generated">
            <a:extLst>
              <a:ext uri="{FF2B5EF4-FFF2-40B4-BE49-F238E27FC236}">
                <a16:creationId xmlns:a16="http://schemas.microsoft.com/office/drawing/2014/main" id="{D0C1C4FE-5D79-4679-A2C4-78D97E21C1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4" y="845422"/>
            <a:ext cx="5959836" cy="4596554"/>
          </a:xfrm>
          <a:prstGeom prst="rect">
            <a:avLst/>
          </a:prstGeom>
        </p:spPr>
      </p:pic>
    </p:spTree>
    <p:extLst>
      <p:ext uri="{BB962C8B-B14F-4D97-AF65-F5344CB8AC3E}">
        <p14:creationId xmlns:p14="http://schemas.microsoft.com/office/powerpoint/2010/main" val="3090030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85033-EC42-4CE8-97FE-49A4DDD66E54}"/>
              </a:ext>
            </a:extLst>
          </p:cNvPr>
          <p:cNvSpPr>
            <a:spLocks noGrp="1"/>
          </p:cNvSpPr>
          <p:nvPr>
            <p:ph type="title"/>
          </p:nvPr>
        </p:nvSpPr>
        <p:spPr>
          <a:xfrm>
            <a:off x="876693" y="741391"/>
            <a:ext cx="3455821" cy="1616203"/>
          </a:xfrm>
        </p:spPr>
        <p:txBody>
          <a:bodyPr anchor="b">
            <a:normAutofit/>
          </a:bodyPr>
          <a:lstStyle/>
          <a:p>
            <a:r>
              <a:rPr lang="en-US" sz="3200"/>
              <a:t>Step 7</a:t>
            </a:r>
          </a:p>
        </p:txBody>
      </p:sp>
      <p:sp>
        <p:nvSpPr>
          <p:cNvPr id="3" name="Content Placeholder 2">
            <a:extLst>
              <a:ext uri="{FF2B5EF4-FFF2-40B4-BE49-F238E27FC236}">
                <a16:creationId xmlns:a16="http://schemas.microsoft.com/office/drawing/2014/main" id="{99561C10-ED9F-40ED-8C2C-A7778F3C5317}"/>
              </a:ext>
            </a:extLst>
          </p:cNvPr>
          <p:cNvSpPr>
            <a:spLocks noGrp="1"/>
          </p:cNvSpPr>
          <p:nvPr>
            <p:ph idx="1"/>
          </p:nvPr>
        </p:nvSpPr>
        <p:spPr>
          <a:xfrm>
            <a:off x="876693" y="2533476"/>
            <a:ext cx="3455821" cy="3447832"/>
          </a:xfrm>
        </p:spPr>
        <p:txBody>
          <a:bodyPr anchor="t">
            <a:normAutofit/>
          </a:bodyPr>
          <a:lstStyle/>
          <a:p>
            <a:r>
              <a:rPr lang="en-US" sz="2000" kern="0">
                <a:effectLst/>
                <a:latin typeface="Open Sans" panose="020B0606030504020204" pitchFamily="34" charset="0"/>
                <a:ea typeface="Times New Roman" panose="02020603050405020304" pitchFamily="18" charset="0"/>
                <a:cs typeface="Times New Roman" panose="02020603050405020304" pitchFamily="18" charset="0"/>
              </a:rPr>
              <a:t>On the Install Type screen, select Custom and click </a:t>
            </a:r>
            <a:r>
              <a:rPr lang="en-US" sz="2000" b="1" kern="0">
                <a:effectLst/>
                <a:latin typeface="Open Sans" panose="020B0606030504020204" pitchFamily="34" charset="0"/>
                <a:ea typeface="Times New Roman" panose="02020603050405020304" pitchFamily="18" charset="0"/>
                <a:cs typeface="Times New Roman" panose="02020603050405020304" pitchFamily="18" charset="0"/>
              </a:rPr>
              <a:t>Next</a:t>
            </a:r>
            <a:r>
              <a:rPr lang="en-US" sz="2000" kern="0">
                <a:effectLst/>
                <a:latin typeface="Open Sans" panose="020B0606030504020204" pitchFamily="34" charset="0"/>
                <a:ea typeface="Times New Roman" panose="02020603050405020304" pitchFamily="18" charset="0"/>
                <a:cs typeface="Times New Roman" panose="02020603050405020304" pitchFamily="18" charset="0"/>
              </a:rPr>
              <a:t>.</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a:p>
        </p:txBody>
      </p:sp>
      <p:pic>
        <p:nvPicPr>
          <p:cNvPr id="7" name="Picture 6" descr="A screenshot of a computer&#10;&#10;Description automatically generated">
            <a:extLst>
              <a:ext uri="{FF2B5EF4-FFF2-40B4-BE49-F238E27FC236}">
                <a16:creationId xmlns:a16="http://schemas.microsoft.com/office/drawing/2014/main" id="{52C8D865-DBB9-4538-9962-A35A9AE7B0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2514" y="1558601"/>
            <a:ext cx="5250538" cy="3937903"/>
          </a:xfrm>
          <a:prstGeom prst="rect">
            <a:avLst/>
          </a:prstGeom>
        </p:spPr>
      </p:pic>
      <p:grpSp>
        <p:nvGrpSpPr>
          <p:cNvPr id="12" name="Group 11">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3" name="Rectangle 12">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4027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9A05B-C9C1-4DB6-A113-BCC2F3AC54C9}"/>
              </a:ext>
            </a:extLst>
          </p:cNvPr>
          <p:cNvSpPr>
            <a:spLocks noGrp="1"/>
          </p:cNvSpPr>
          <p:nvPr>
            <p:ph type="title"/>
          </p:nvPr>
        </p:nvSpPr>
        <p:spPr>
          <a:xfrm>
            <a:off x="876694" y="741391"/>
            <a:ext cx="4234393" cy="1616203"/>
          </a:xfrm>
        </p:spPr>
        <p:txBody>
          <a:bodyPr anchor="b">
            <a:normAutofit/>
          </a:bodyPr>
          <a:lstStyle/>
          <a:p>
            <a:r>
              <a:rPr lang="en-US" sz="3200"/>
              <a:t>Step 8: </a:t>
            </a:r>
          </a:p>
        </p:txBody>
      </p:sp>
      <p:sp>
        <p:nvSpPr>
          <p:cNvPr id="3" name="Content Placeholder 2">
            <a:extLst>
              <a:ext uri="{FF2B5EF4-FFF2-40B4-BE49-F238E27FC236}">
                <a16:creationId xmlns:a16="http://schemas.microsoft.com/office/drawing/2014/main" id="{6BFAE633-DDEF-46A1-AEE3-54D8CD443CB1}"/>
              </a:ext>
            </a:extLst>
          </p:cNvPr>
          <p:cNvSpPr>
            <a:spLocks noGrp="1"/>
          </p:cNvSpPr>
          <p:nvPr>
            <p:ph idx="1"/>
          </p:nvPr>
        </p:nvSpPr>
        <p:spPr>
          <a:xfrm>
            <a:off x="876693" y="2533476"/>
            <a:ext cx="4234394" cy="3447832"/>
          </a:xfrm>
        </p:spPr>
        <p:txBody>
          <a:bodyPr anchor="t">
            <a:normAutofit/>
          </a:bodyPr>
          <a:lstStyle/>
          <a:p>
            <a:r>
              <a:rPr lang="en-US" sz="2000" kern="0" dirty="0">
                <a:effectLst/>
                <a:latin typeface="Open Sans" panose="020B0606030504020204" pitchFamily="34" charset="0"/>
                <a:ea typeface="Times New Roman" panose="02020603050405020304" pitchFamily="18" charset="0"/>
                <a:cs typeface="Times New Roman" panose="02020603050405020304" pitchFamily="18" charset="0"/>
              </a:rPr>
              <a:t>Select the installation location or leave the default path and click </a:t>
            </a:r>
            <a:r>
              <a:rPr lang="en-US" sz="2000" b="1" kern="0" dirty="0">
                <a:effectLst/>
                <a:latin typeface="Open Sans" panose="020B0606030504020204" pitchFamily="34" charset="0"/>
                <a:ea typeface="Times New Roman" panose="02020603050405020304" pitchFamily="18" charset="0"/>
                <a:cs typeface="Times New Roman" panose="02020603050405020304" pitchFamily="18" charset="0"/>
              </a:rPr>
              <a:t>Next</a:t>
            </a:r>
            <a:r>
              <a:rPr lang="en-US" sz="2000" kern="0" dirty="0">
                <a:effectLst/>
                <a:latin typeface="Open Sans" panose="020B0606030504020204" pitchFamily="34"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endParaRPr lang="en-US" sz="2000" dirty="0"/>
          </a:p>
          <a:p>
            <a:endParaRPr lang="en-US" sz="2000" dirty="0"/>
          </a:p>
        </p:txBody>
      </p:sp>
      <p:pic>
        <p:nvPicPr>
          <p:cNvPr id="7" name="Picture 6" descr="A screenshot of a computer&#10;&#10;Description automatically generated">
            <a:extLst>
              <a:ext uri="{FF2B5EF4-FFF2-40B4-BE49-F238E27FC236}">
                <a16:creationId xmlns:a16="http://schemas.microsoft.com/office/drawing/2014/main" id="{D8AA822D-3D78-4314-966E-0074502FFF75}"/>
              </a:ext>
            </a:extLst>
          </p:cNvPr>
          <p:cNvPicPr>
            <a:picLocks noChangeAspect="1"/>
          </p:cNvPicPr>
          <p:nvPr/>
        </p:nvPicPr>
        <p:blipFill rotWithShape="1">
          <a:blip r:embed="rId2">
            <a:extLst>
              <a:ext uri="{28A0092B-C50C-407E-A947-70E740481C1C}">
                <a14:useLocalDpi xmlns:a14="http://schemas.microsoft.com/office/drawing/2010/main" val="0"/>
              </a:ext>
            </a:extLst>
          </a:blip>
          <a:srcRect r="17947" b="2"/>
          <a:stretch/>
        </p:blipFill>
        <p:spPr>
          <a:xfrm>
            <a:off x="5003693" y="1777066"/>
            <a:ext cx="4234394" cy="3870347"/>
          </a:xfrm>
          <a:prstGeom prst="rect">
            <a:avLst/>
          </a:prstGeom>
        </p:spPr>
      </p:pic>
      <p:grpSp>
        <p:nvGrpSpPr>
          <p:cNvPr id="25" name="Group 18">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6" name="Rectangle 19">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0">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13932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1648EC-7A6B-4D14-A529-AFCDD3F6462F}"/>
              </a:ext>
            </a:extLst>
          </p:cNvPr>
          <p:cNvSpPr>
            <a:spLocks noGrp="1"/>
          </p:cNvSpPr>
          <p:nvPr>
            <p:ph type="title"/>
          </p:nvPr>
        </p:nvSpPr>
        <p:spPr>
          <a:xfrm>
            <a:off x="838200" y="1641752"/>
            <a:ext cx="4391025" cy="1323439"/>
          </a:xfrm>
        </p:spPr>
        <p:txBody>
          <a:bodyPr anchor="t">
            <a:normAutofit/>
          </a:bodyPr>
          <a:lstStyle/>
          <a:p>
            <a:r>
              <a:rPr lang="en-US" sz="4000">
                <a:solidFill>
                  <a:schemeClr val="bg1"/>
                </a:solidFill>
              </a:rPr>
              <a:t>Step 8</a:t>
            </a:r>
          </a:p>
        </p:txBody>
      </p:sp>
      <p:sp>
        <p:nvSpPr>
          <p:cNvPr id="3" name="Content Placeholder 2">
            <a:extLst>
              <a:ext uri="{FF2B5EF4-FFF2-40B4-BE49-F238E27FC236}">
                <a16:creationId xmlns:a16="http://schemas.microsoft.com/office/drawing/2014/main" id="{391931A3-CFC6-4184-B8BC-55F4F71C7B86}"/>
              </a:ext>
            </a:extLst>
          </p:cNvPr>
          <p:cNvSpPr>
            <a:spLocks noGrp="1"/>
          </p:cNvSpPr>
          <p:nvPr>
            <p:ph idx="1"/>
          </p:nvPr>
        </p:nvSpPr>
        <p:spPr>
          <a:xfrm>
            <a:off x="838200" y="3146400"/>
            <a:ext cx="4391025" cy="2454300"/>
          </a:xfrm>
        </p:spPr>
        <p:txBody>
          <a:bodyPr>
            <a:normAutofit/>
          </a:bodyPr>
          <a:lstStyle/>
          <a:p>
            <a:r>
              <a:rPr lang="en-US" sz="2400" kern="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Select your UI theme and click </a:t>
            </a:r>
            <a:r>
              <a:rPr lang="en-US" sz="2400" b="1" kern="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Next</a:t>
            </a:r>
            <a:r>
              <a:rPr lang="en-US" sz="2400" kern="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a:t>
            </a:r>
            <a:endParaRPr lang="en-US" sz="2400" kern="10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400">
              <a:solidFill>
                <a:schemeClr val="bg1">
                  <a:alpha val="80000"/>
                </a:schemeClr>
              </a:solidFill>
            </a:endParaRPr>
          </a:p>
        </p:txBody>
      </p:sp>
      <p:pic>
        <p:nvPicPr>
          <p:cNvPr id="5" name="Picture 4" descr="A screenshot of a computer program&#10;&#10;Description automatically generated">
            <a:extLst>
              <a:ext uri="{FF2B5EF4-FFF2-40B4-BE49-F238E27FC236}">
                <a16:creationId xmlns:a16="http://schemas.microsoft.com/office/drawing/2014/main" id="{CC8E60D6-886A-45B5-ADE4-2A14D8236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3485" y="1850835"/>
            <a:ext cx="4649470" cy="3487103"/>
          </a:xfrm>
          <a:prstGeom prst="rect">
            <a:avLst/>
          </a:prstGeom>
        </p:spPr>
      </p:pic>
    </p:spTree>
    <p:extLst>
      <p:ext uri="{BB962C8B-B14F-4D97-AF65-F5344CB8AC3E}">
        <p14:creationId xmlns:p14="http://schemas.microsoft.com/office/powerpoint/2010/main" val="2861298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AAF023-E64E-49CF-996A-A4BB06AFD9D0}"/>
              </a:ext>
            </a:extLst>
          </p:cNvPr>
          <p:cNvSpPr>
            <a:spLocks noGrp="1"/>
          </p:cNvSpPr>
          <p:nvPr>
            <p:ph type="title"/>
          </p:nvPr>
        </p:nvSpPr>
        <p:spPr>
          <a:xfrm>
            <a:off x="555308" y="1600295"/>
            <a:ext cx="4391024" cy="1323439"/>
          </a:xfrm>
        </p:spPr>
        <p:txBody>
          <a:bodyPr anchor="t">
            <a:normAutofit/>
          </a:bodyPr>
          <a:lstStyle/>
          <a:p>
            <a:r>
              <a:rPr lang="en-US" sz="4000">
                <a:solidFill>
                  <a:schemeClr val="bg1"/>
                </a:solidFill>
              </a:rPr>
              <a:t>Step 9:</a:t>
            </a:r>
          </a:p>
        </p:txBody>
      </p:sp>
      <p:sp>
        <p:nvSpPr>
          <p:cNvPr id="3" name="Content Placeholder 2">
            <a:extLst>
              <a:ext uri="{FF2B5EF4-FFF2-40B4-BE49-F238E27FC236}">
                <a16:creationId xmlns:a16="http://schemas.microsoft.com/office/drawing/2014/main" id="{F2F30251-33CC-4F14-99EA-66371C2931A9}"/>
              </a:ext>
            </a:extLst>
          </p:cNvPr>
          <p:cNvSpPr>
            <a:spLocks noGrp="1"/>
          </p:cNvSpPr>
          <p:nvPr>
            <p:ph idx="1"/>
          </p:nvPr>
        </p:nvSpPr>
        <p:spPr>
          <a:xfrm>
            <a:off x="487680" y="3092210"/>
            <a:ext cx="4391024" cy="2454300"/>
          </a:xfrm>
        </p:spPr>
        <p:txBody>
          <a:bodyPr>
            <a:normAutofit/>
          </a:bodyPr>
          <a:lstStyle/>
          <a:p>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Verify the selections and click </a:t>
            </a:r>
            <a:r>
              <a:rPr lang="en-US" sz="24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Next</a:t>
            </a:r>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a:t>
            </a:r>
            <a:endParaRPr lang="en-US" sz="2400" kern="100" dirty="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solidFill>
                <a:schemeClr val="bg1">
                  <a:alpha val="80000"/>
                </a:schemeClr>
              </a:solidFill>
            </a:endParaRPr>
          </a:p>
        </p:txBody>
      </p:sp>
      <p:pic>
        <p:nvPicPr>
          <p:cNvPr id="5" name="Picture 4" descr="A screenshot of a computer&#10;&#10;Description automatically generated">
            <a:extLst>
              <a:ext uri="{FF2B5EF4-FFF2-40B4-BE49-F238E27FC236}">
                <a16:creationId xmlns:a16="http://schemas.microsoft.com/office/drawing/2014/main" id="{D56AC95C-465D-4C74-AA0D-8656593757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39" y="1768771"/>
            <a:ext cx="5260976" cy="3906274"/>
          </a:xfrm>
          <a:prstGeom prst="rect">
            <a:avLst/>
          </a:prstGeom>
        </p:spPr>
      </p:pic>
    </p:spTree>
    <p:extLst>
      <p:ext uri="{BB962C8B-B14F-4D97-AF65-F5344CB8AC3E}">
        <p14:creationId xmlns:p14="http://schemas.microsoft.com/office/powerpoint/2010/main" val="1086142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501BE1-8328-47E4-B010-7EB0E334771E}"/>
              </a:ext>
            </a:extLst>
          </p:cNvPr>
          <p:cNvSpPr>
            <a:spLocks noGrp="1"/>
          </p:cNvSpPr>
          <p:nvPr>
            <p:ph type="title"/>
          </p:nvPr>
        </p:nvSpPr>
        <p:spPr>
          <a:xfrm>
            <a:off x="838200" y="1641752"/>
            <a:ext cx="4391025" cy="1323439"/>
          </a:xfrm>
        </p:spPr>
        <p:txBody>
          <a:bodyPr anchor="t">
            <a:normAutofit/>
          </a:bodyPr>
          <a:lstStyle/>
          <a:p>
            <a:r>
              <a:rPr lang="en-US" sz="4000">
                <a:solidFill>
                  <a:schemeClr val="bg1"/>
                </a:solidFill>
              </a:rPr>
              <a:t>Step 10:</a:t>
            </a:r>
          </a:p>
        </p:txBody>
      </p:sp>
      <p:sp>
        <p:nvSpPr>
          <p:cNvPr id="3" name="Content Placeholder 2">
            <a:extLst>
              <a:ext uri="{FF2B5EF4-FFF2-40B4-BE49-F238E27FC236}">
                <a16:creationId xmlns:a16="http://schemas.microsoft.com/office/drawing/2014/main" id="{1077ADB5-07E9-42F4-A5F0-71746BF498A0}"/>
              </a:ext>
            </a:extLst>
          </p:cNvPr>
          <p:cNvSpPr>
            <a:spLocks noGrp="1"/>
          </p:cNvSpPr>
          <p:nvPr>
            <p:ph idx="1"/>
          </p:nvPr>
        </p:nvSpPr>
        <p:spPr>
          <a:xfrm>
            <a:off x="365760" y="2665660"/>
            <a:ext cx="4391025" cy="2454300"/>
          </a:xfrm>
        </p:spPr>
        <p:txBody>
          <a:bodyPr>
            <a:normAutofit/>
          </a:bodyPr>
          <a:lstStyle/>
          <a:p>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On the next screen, accept the License Agreement and click </a:t>
            </a:r>
            <a:r>
              <a:rPr lang="en-US" sz="24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Finish</a:t>
            </a:r>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a:t>
            </a:r>
            <a:endParaRPr lang="en-US" sz="2400" kern="100" dirty="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solidFill>
                <a:schemeClr val="bg1">
                  <a:alpha val="80000"/>
                </a:schemeClr>
              </a:solidFill>
            </a:endParaRPr>
          </a:p>
        </p:txBody>
      </p:sp>
      <p:pic>
        <p:nvPicPr>
          <p:cNvPr id="5" name="Picture 4" descr="A screenshot of a computer&#10;&#10;Description automatically generated">
            <a:extLst>
              <a:ext uri="{FF2B5EF4-FFF2-40B4-BE49-F238E27FC236}">
                <a16:creationId xmlns:a16="http://schemas.microsoft.com/office/drawing/2014/main" id="{27BA2B07-9F66-470B-9267-5D6F84C87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5819" y="1759924"/>
            <a:ext cx="5260976" cy="3945732"/>
          </a:xfrm>
          <a:prstGeom prst="rect">
            <a:avLst/>
          </a:prstGeom>
        </p:spPr>
      </p:pic>
    </p:spTree>
    <p:extLst>
      <p:ext uri="{BB962C8B-B14F-4D97-AF65-F5344CB8AC3E}">
        <p14:creationId xmlns:p14="http://schemas.microsoft.com/office/powerpoint/2010/main" val="1916147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EE7253-C6A9-4BF1-A896-C5920B74F7E8}"/>
              </a:ext>
            </a:extLst>
          </p:cNvPr>
          <p:cNvSpPr>
            <a:spLocks noGrp="1"/>
          </p:cNvSpPr>
          <p:nvPr>
            <p:ph type="title"/>
          </p:nvPr>
        </p:nvSpPr>
        <p:spPr>
          <a:xfrm>
            <a:off x="838200" y="1641752"/>
            <a:ext cx="4391025" cy="1323439"/>
          </a:xfrm>
        </p:spPr>
        <p:txBody>
          <a:bodyPr anchor="t">
            <a:normAutofit/>
          </a:bodyPr>
          <a:lstStyle/>
          <a:p>
            <a:r>
              <a:rPr lang="en-US" sz="4000">
                <a:solidFill>
                  <a:schemeClr val="bg1"/>
                </a:solidFill>
              </a:rPr>
              <a:t>Step 11:</a:t>
            </a:r>
          </a:p>
        </p:txBody>
      </p:sp>
      <p:sp>
        <p:nvSpPr>
          <p:cNvPr id="3" name="Content Placeholder 2">
            <a:extLst>
              <a:ext uri="{FF2B5EF4-FFF2-40B4-BE49-F238E27FC236}">
                <a16:creationId xmlns:a16="http://schemas.microsoft.com/office/drawing/2014/main" id="{1904C1AC-0F4F-416F-8C05-76AAE41608A8}"/>
              </a:ext>
            </a:extLst>
          </p:cNvPr>
          <p:cNvSpPr>
            <a:spLocks noGrp="1"/>
          </p:cNvSpPr>
          <p:nvPr>
            <p:ph idx="1"/>
          </p:nvPr>
        </p:nvSpPr>
        <p:spPr>
          <a:xfrm>
            <a:off x="479541" y="2965191"/>
            <a:ext cx="4391025" cy="2454300"/>
          </a:xfrm>
        </p:spPr>
        <p:txBody>
          <a:bodyPr>
            <a:normAutofit/>
          </a:bodyPr>
          <a:lstStyle/>
          <a:p>
            <a:pPr marL="0" marR="0">
              <a:spcBef>
                <a:spcPts val="0"/>
              </a:spcBef>
              <a:spcAft>
                <a:spcPts val="825"/>
              </a:spcAft>
            </a:pPr>
            <a:r>
              <a:rPr lang="en-US" sz="19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The download of the components will start and Android Studio install. Once completed, click </a:t>
            </a:r>
            <a:r>
              <a:rPr lang="en-US" sz="19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Finish</a:t>
            </a:r>
            <a:r>
              <a:rPr lang="en-US" sz="19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a:t>
            </a:r>
            <a:endParaRPr lang="en-US" sz="1900" kern="100" dirty="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825"/>
              </a:spcAft>
            </a:pPr>
            <a:r>
              <a:rPr lang="en-US" sz="19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After the installation, start Android Studio. On the left side, click </a:t>
            </a:r>
            <a:r>
              <a:rPr lang="en-US" sz="19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Plugins</a:t>
            </a:r>
            <a:r>
              <a:rPr lang="en-US" sz="19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 Search for Flutter and click </a:t>
            </a:r>
            <a:r>
              <a:rPr lang="en-US" sz="19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Install </a:t>
            </a:r>
            <a:r>
              <a:rPr lang="en-US" sz="19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to install the Flutter plugin.</a:t>
            </a:r>
            <a:endParaRPr lang="en-US" sz="1900" kern="100" dirty="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1900" dirty="0">
              <a:solidFill>
                <a:schemeClr val="bg1">
                  <a:alpha val="80000"/>
                </a:schemeClr>
              </a:solidFill>
            </a:endParaRPr>
          </a:p>
        </p:txBody>
      </p:sp>
      <p:pic>
        <p:nvPicPr>
          <p:cNvPr id="5" name="Picture 4" descr="A screenshot of a software application&#10;&#10;Description automatically generated">
            <a:extLst>
              <a:ext uri="{FF2B5EF4-FFF2-40B4-BE49-F238E27FC236}">
                <a16:creationId xmlns:a16="http://schemas.microsoft.com/office/drawing/2014/main" id="{897C142B-61EC-43F0-821F-09391FC22D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0566" y="1801249"/>
            <a:ext cx="4776557" cy="3618242"/>
          </a:xfrm>
          <a:prstGeom prst="rect">
            <a:avLst/>
          </a:prstGeom>
        </p:spPr>
      </p:pic>
    </p:spTree>
    <p:extLst>
      <p:ext uri="{BB962C8B-B14F-4D97-AF65-F5344CB8AC3E}">
        <p14:creationId xmlns:p14="http://schemas.microsoft.com/office/powerpoint/2010/main" val="4086109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A13F2F-D61D-4D4D-B17B-E0C6D3B4E433}"/>
              </a:ext>
            </a:extLst>
          </p:cNvPr>
          <p:cNvSpPr>
            <a:spLocks noGrp="1"/>
          </p:cNvSpPr>
          <p:nvPr>
            <p:ph type="title"/>
          </p:nvPr>
        </p:nvSpPr>
        <p:spPr>
          <a:xfrm>
            <a:off x="838200" y="1641752"/>
            <a:ext cx="4391025" cy="1323439"/>
          </a:xfrm>
        </p:spPr>
        <p:txBody>
          <a:bodyPr anchor="t">
            <a:normAutofit/>
          </a:bodyPr>
          <a:lstStyle/>
          <a:p>
            <a:r>
              <a:rPr lang="en-US" sz="4000">
                <a:solidFill>
                  <a:schemeClr val="bg1"/>
                </a:solidFill>
              </a:rPr>
              <a:t>Step 12:</a:t>
            </a:r>
          </a:p>
        </p:txBody>
      </p:sp>
      <p:sp>
        <p:nvSpPr>
          <p:cNvPr id="3" name="Content Placeholder 2">
            <a:extLst>
              <a:ext uri="{FF2B5EF4-FFF2-40B4-BE49-F238E27FC236}">
                <a16:creationId xmlns:a16="http://schemas.microsoft.com/office/drawing/2014/main" id="{84C5559F-E77E-4202-B62F-5973069BEA6D}"/>
              </a:ext>
            </a:extLst>
          </p:cNvPr>
          <p:cNvSpPr>
            <a:spLocks noGrp="1"/>
          </p:cNvSpPr>
          <p:nvPr>
            <p:ph idx="1"/>
          </p:nvPr>
        </p:nvSpPr>
        <p:spPr>
          <a:xfrm>
            <a:off x="464820" y="3115920"/>
            <a:ext cx="4391025" cy="2454300"/>
          </a:xfrm>
        </p:spPr>
        <p:txBody>
          <a:bodyPr>
            <a:normAutofit/>
          </a:bodyPr>
          <a:lstStyle/>
          <a:p>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It will also prompt you to install Dart, a programming language used to create Flutter apps. Click </a:t>
            </a:r>
            <a:r>
              <a:rPr lang="en-US" sz="24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Install </a:t>
            </a:r>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at the prompt.</a:t>
            </a:r>
            <a:endParaRPr lang="en-US" sz="2400" kern="100" dirty="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solidFill>
                <a:schemeClr val="bg1">
                  <a:alpha val="80000"/>
                </a:schemeClr>
              </a:solidFill>
            </a:endParaRPr>
          </a:p>
        </p:txBody>
      </p:sp>
      <p:pic>
        <p:nvPicPr>
          <p:cNvPr id="5" name="Picture 4" descr="A screenshot of a computer&#10;&#10;Description automatically generated">
            <a:extLst>
              <a:ext uri="{FF2B5EF4-FFF2-40B4-BE49-F238E27FC236}">
                <a16:creationId xmlns:a16="http://schemas.microsoft.com/office/drawing/2014/main" id="{3E4444E5-EBA8-4C7E-859E-94D778A06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0119" y="1583292"/>
            <a:ext cx="5260976" cy="3945732"/>
          </a:xfrm>
          <a:prstGeom prst="rect">
            <a:avLst/>
          </a:prstGeom>
        </p:spPr>
      </p:pic>
    </p:spTree>
    <p:extLst>
      <p:ext uri="{BB962C8B-B14F-4D97-AF65-F5344CB8AC3E}">
        <p14:creationId xmlns:p14="http://schemas.microsoft.com/office/powerpoint/2010/main" val="3182482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EE2A17-A3A5-4F54-BA2D-48E3170A9706}"/>
              </a:ext>
            </a:extLst>
          </p:cNvPr>
          <p:cNvSpPr>
            <a:spLocks noGrp="1"/>
          </p:cNvSpPr>
          <p:nvPr>
            <p:ph type="title"/>
          </p:nvPr>
        </p:nvSpPr>
        <p:spPr>
          <a:xfrm>
            <a:off x="838200" y="1641752"/>
            <a:ext cx="4391025" cy="1323439"/>
          </a:xfrm>
        </p:spPr>
        <p:txBody>
          <a:bodyPr anchor="t">
            <a:normAutofit/>
          </a:bodyPr>
          <a:lstStyle/>
          <a:p>
            <a:r>
              <a:rPr lang="en-US" sz="4000">
                <a:solidFill>
                  <a:schemeClr val="bg1"/>
                </a:solidFill>
              </a:rPr>
              <a:t>Step 13</a:t>
            </a:r>
          </a:p>
        </p:txBody>
      </p:sp>
      <p:sp>
        <p:nvSpPr>
          <p:cNvPr id="3" name="Content Placeholder 2">
            <a:extLst>
              <a:ext uri="{FF2B5EF4-FFF2-40B4-BE49-F238E27FC236}">
                <a16:creationId xmlns:a16="http://schemas.microsoft.com/office/drawing/2014/main" id="{7B3069A3-17B3-4EC3-8A65-718143954B4A}"/>
              </a:ext>
            </a:extLst>
          </p:cNvPr>
          <p:cNvSpPr>
            <a:spLocks noGrp="1"/>
          </p:cNvSpPr>
          <p:nvPr>
            <p:ph idx="1"/>
          </p:nvPr>
        </p:nvSpPr>
        <p:spPr>
          <a:xfrm>
            <a:off x="525780" y="3161640"/>
            <a:ext cx="4391025" cy="2454300"/>
          </a:xfrm>
        </p:spPr>
        <p:txBody>
          <a:bodyPr>
            <a:normAutofit/>
          </a:bodyPr>
          <a:lstStyle/>
          <a:p>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Finally, click </a:t>
            </a:r>
            <a:r>
              <a:rPr lang="en-US" sz="24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Restart IDE</a:t>
            </a:r>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 so that the plugin changes are applied. Click </a:t>
            </a:r>
            <a:r>
              <a:rPr lang="en-US" sz="2400" b="1"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Restart </a:t>
            </a:r>
            <a:r>
              <a:rPr lang="en-US" sz="2400" kern="0" dirty="0">
                <a:solidFill>
                  <a:schemeClr val="bg1">
                    <a:alpha val="80000"/>
                  </a:schemeClr>
                </a:solidFill>
                <a:effectLst/>
                <a:latin typeface="Open Sans" panose="020B0606030504020204" pitchFamily="34" charset="0"/>
                <a:ea typeface="Times New Roman" panose="02020603050405020304" pitchFamily="18" charset="0"/>
                <a:cs typeface="Times New Roman" panose="02020603050405020304" pitchFamily="18" charset="0"/>
              </a:rPr>
              <a:t>at the prompt to confirm this action.</a:t>
            </a:r>
            <a:endParaRPr lang="en-US" sz="2400" kern="100" dirty="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solidFill>
                <a:schemeClr val="bg1">
                  <a:alpha val="80000"/>
                </a:schemeClr>
              </a:solidFill>
            </a:endParaRPr>
          </a:p>
        </p:txBody>
      </p:sp>
      <p:pic>
        <p:nvPicPr>
          <p:cNvPr id="5" name="Picture 4" descr="A screenshot of a computer&#10;&#10;Description automatically generated">
            <a:extLst>
              <a:ext uri="{FF2B5EF4-FFF2-40B4-BE49-F238E27FC236}">
                <a16:creationId xmlns:a16="http://schemas.microsoft.com/office/drawing/2014/main" id="{4AAE0F9F-3545-4AFA-8E67-8AF62C267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8719" y="2044389"/>
            <a:ext cx="4892041" cy="3705722"/>
          </a:xfrm>
          <a:prstGeom prst="rect">
            <a:avLst/>
          </a:prstGeom>
        </p:spPr>
      </p:pic>
    </p:spTree>
    <p:extLst>
      <p:ext uri="{BB962C8B-B14F-4D97-AF65-F5344CB8AC3E}">
        <p14:creationId xmlns:p14="http://schemas.microsoft.com/office/powerpoint/2010/main" val="473755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098BB5-6DAF-4CB1-98A2-DFD6B1ADD280}"/>
              </a:ext>
            </a:extLst>
          </p:cNvPr>
          <p:cNvSpPr>
            <a:spLocks noGrp="1"/>
          </p:cNvSpPr>
          <p:nvPr>
            <p:ph type="title"/>
          </p:nvPr>
        </p:nvSpPr>
        <p:spPr>
          <a:xfrm>
            <a:off x="838200" y="1641752"/>
            <a:ext cx="4391025" cy="1323439"/>
          </a:xfrm>
        </p:spPr>
        <p:txBody>
          <a:bodyPr anchor="t">
            <a:normAutofit/>
          </a:bodyPr>
          <a:lstStyle/>
          <a:p>
            <a:r>
              <a:rPr lang="en-US" sz="4000" dirty="0">
                <a:solidFill>
                  <a:schemeClr val="bg1"/>
                </a:solidFill>
              </a:rPr>
              <a:t>Step 14:</a:t>
            </a:r>
          </a:p>
        </p:txBody>
      </p:sp>
      <p:sp>
        <p:nvSpPr>
          <p:cNvPr id="3" name="Content Placeholder 2">
            <a:extLst>
              <a:ext uri="{FF2B5EF4-FFF2-40B4-BE49-F238E27FC236}">
                <a16:creationId xmlns:a16="http://schemas.microsoft.com/office/drawing/2014/main" id="{41A3AC2C-9346-4207-BE79-8EC638EFA416}"/>
              </a:ext>
            </a:extLst>
          </p:cNvPr>
          <p:cNvSpPr>
            <a:spLocks noGrp="1"/>
          </p:cNvSpPr>
          <p:nvPr>
            <p:ph idx="1"/>
          </p:nvPr>
        </p:nvSpPr>
        <p:spPr>
          <a:xfrm>
            <a:off x="523875" y="2982753"/>
            <a:ext cx="4391025" cy="2454300"/>
          </a:xfrm>
        </p:spPr>
        <p:txBody>
          <a:bodyPr>
            <a:normAutofit/>
          </a:bodyPr>
          <a:lstStyle/>
          <a:p>
            <a:r>
              <a:rPr lang="en-US" sz="2400" kern="100" dirty="0">
                <a:solidFill>
                  <a:schemeClr val="bg1">
                    <a:alpha val="80000"/>
                  </a:schemeClr>
                </a:solidFill>
                <a:effectLst/>
                <a:latin typeface="Open Sans" panose="020B0606030504020204" pitchFamily="34" charset="0"/>
                <a:ea typeface="Calibri" panose="020F0502020204030204" pitchFamily="34" charset="0"/>
                <a:cs typeface="Times New Roman" panose="02020603050405020304" pitchFamily="18" charset="0"/>
              </a:rPr>
              <a:t>Afterward, run the </a:t>
            </a:r>
            <a:r>
              <a:rPr lang="en-US" sz="2400" i="1" kern="100" dirty="0">
                <a:solidFill>
                  <a:schemeClr val="bg1">
                    <a:alpha val="80000"/>
                  </a:schemeClr>
                </a:solidFill>
                <a:effectLst/>
                <a:latin typeface="Open Sans" panose="020B0606030504020204" pitchFamily="34" charset="0"/>
                <a:ea typeface="Calibri" panose="020F0502020204030204" pitchFamily="34" charset="0"/>
                <a:cs typeface="Times New Roman" panose="02020603050405020304" pitchFamily="18" charset="0"/>
              </a:rPr>
              <a:t>flutter doctor </a:t>
            </a:r>
            <a:r>
              <a:rPr lang="en-US" sz="2400" kern="100" dirty="0">
                <a:solidFill>
                  <a:schemeClr val="bg1">
                    <a:alpha val="80000"/>
                  </a:schemeClr>
                </a:solidFill>
                <a:effectLst/>
                <a:latin typeface="Calibri" panose="020F0502020204030204" pitchFamily="34" charset="0"/>
                <a:ea typeface="Calibri" panose="020F0502020204030204" pitchFamily="34" charset="0"/>
                <a:cs typeface="Times New Roman" panose="02020603050405020304" pitchFamily="18" charset="0"/>
              </a:rPr>
              <a:t>command in CMD to confirm the Android Studio installation.</a:t>
            </a:r>
          </a:p>
          <a:p>
            <a:endParaRPr lang="en-US" sz="2400" dirty="0">
              <a:solidFill>
                <a:schemeClr val="bg1">
                  <a:alpha val="80000"/>
                </a:schemeClr>
              </a:solidFill>
            </a:endParaRPr>
          </a:p>
        </p:txBody>
      </p:sp>
      <p:pic>
        <p:nvPicPr>
          <p:cNvPr id="5" name="Picture 4" descr="A screenshot of a computer&#10;&#10;Description automatically generated">
            <a:extLst>
              <a:ext uri="{FF2B5EF4-FFF2-40B4-BE49-F238E27FC236}">
                <a16:creationId xmlns:a16="http://schemas.microsoft.com/office/drawing/2014/main" id="{09D8353E-D96B-4976-B755-FDC4CCACFE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4900" y="2442948"/>
            <a:ext cx="4665228" cy="3533911"/>
          </a:xfrm>
          <a:prstGeom prst="rect">
            <a:avLst/>
          </a:prstGeom>
        </p:spPr>
      </p:pic>
    </p:spTree>
    <p:extLst>
      <p:ext uri="{BB962C8B-B14F-4D97-AF65-F5344CB8AC3E}">
        <p14:creationId xmlns:p14="http://schemas.microsoft.com/office/powerpoint/2010/main" val="1837573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0F875-33C9-46E4-DDDA-EFCA6F68379B}"/>
              </a:ext>
            </a:extLst>
          </p:cNvPr>
          <p:cNvSpPr>
            <a:spLocks noGrp="1"/>
          </p:cNvSpPr>
          <p:nvPr>
            <p:ph type="title"/>
          </p:nvPr>
        </p:nvSpPr>
        <p:spPr>
          <a:xfrm>
            <a:off x="640080" y="5576887"/>
            <a:ext cx="10911840" cy="640081"/>
          </a:xfrm>
        </p:spPr>
        <p:txBody>
          <a:bodyPr vert="horz" lIns="91440" tIns="45720" rIns="91440" bIns="45720" rtlCol="0" anchor="ctr">
            <a:normAutofit/>
          </a:bodyPr>
          <a:lstStyle/>
          <a:p>
            <a:pPr algn="ctr"/>
            <a:r>
              <a:rPr lang="en-US" sz="3200"/>
              <a:t>How the CMD line tool error</a:t>
            </a:r>
          </a:p>
        </p:txBody>
      </p:sp>
      <p:pic>
        <p:nvPicPr>
          <p:cNvPr id="5" name="Content Placeholder 4" descr="A screenshot of a computer program&#10;&#10;Description automatically generated">
            <a:extLst>
              <a:ext uri="{FF2B5EF4-FFF2-40B4-BE49-F238E27FC236}">
                <a16:creationId xmlns:a16="http://schemas.microsoft.com/office/drawing/2014/main" id="{CF633305-1143-6D87-4F2F-3C7F27D770D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736" b="1"/>
          <a:stretch/>
        </p:blipFill>
        <p:spPr>
          <a:xfrm>
            <a:off x="640080" y="640080"/>
            <a:ext cx="10911840" cy="4836795"/>
          </a:xfrm>
          <a:prstGeom prst="rect">
            <a:avLst/>
          </a:prstGeom>
          <a:ln w="19050">
            <a:solidFill>
              <a:schemeClr val="tx1"/>
            </a:solidFill>
            <a:miter lim="800000"/>
          </a:ln>
        </p:spPr>
      </p:pic>
    </p:spTree>
    <p:extLst>
      <p:ext uri="{BB962C8B-B14F-4D97-AF65-F5344CB8AC3E}">
        <p14:creationId xmlns:p14="http://schemas.microsoft.com/office/powerpoint/2010/main" val="4161433174"/>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5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248EBE-D9B4-493A-9033-636CA59E589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Results from the doctor	</a:t>
            </a:r>
          </a:p>
        </p:txBody>
      </p:sp>
      <p:pic>
        <p:nvPicPr>
          <p:cNvPr id="5" name="Content Placeholder 4" descr="A close-up of a text&#10;&#10;Description automatically generated">
            <a:extLst>
              <a:ext uri="{FF2B5EF4-FFF2-40B4-BE49-F238E27FC236}">
                <a16:creationId xmlns:a16="http://schemas.microsoft.com/office/drawing/2014/main" id="{5D4B08D9-EAC1-47BF-9CF8-2B0C80493E5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8923" b="1"/>
          <a:stretch/>
        </p:blipFill>
        <p:spPr>
          <a:xfrm>
            <a:off x="137159" y="1632986"/>
            <a:ext cx="9795933" cy="3201764"/>
          </a:xfrm>
          <a:prstGeom prst="rect">
            <a:avLst/>
          </a:prstGeom>
        </p:spPr>
      </p:pic>
    </p:spTree>
    <p:extLst>
      <p:ext uri="{BB962C8B-B14F-4D97-AF65-F5344CB8AC3E}">
        <p14:creationId xmlns:p14="http://schemas.microsoft.com/office/powerpoint/2010/main" val="4002162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3D6EC93-F369-413E-AA67-5D4104161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CEE54-8F91-4516-AD01-35AEC37DC644}"/>
              </a:ext>
            </a:extLst>
          </p:cNvPr>
          <p:cNvSpPr>
            <a:spLocks noGrp="1"/>
          </p:cNvSpPr>
          <p:nvPr>
            <p:ph type="title"/>
          </p:nvPr>
        </p:nvSpPr>
        <p:spPr>
          <a:xfrm>
            <a:off x="838201" y="1641752"/>
            <a:ext cx="4394200" cy="1323439"/>
          </a:xfrm>
        </p:spPr>
        <p:txBody>
          <a:bodyPr anchor="t">
            <a:normAutofit/>
          </a:bodyPr>
          <a:lstStyle/>
          <a:p>
            <a:r>
              <a:rPr lang="en-US" sz="4000">
                <a:solidFill>
                  <a:schemeClr val="bg1"/>
                </a:solidFill>
              </a:rPr>
              <a:t>After a successful install</a:t>
            </a:r>
          </a:p>
        </p:txBody>
      </p:sp>
      <p:sp>
        <p:nvSpPr>
          <p:cNvPr id="3" name="Content Placeholder 2">
            <a:extLst>
              <a:ext uri="{FF2B5EF4-FFF2-40B4-BE49-F238E27FC236}">
                <a16:creationId xmlns:a16="http://schemas.microsoft.com/office/drawing/2014/main" id="{5DAFA464-3B56-4E67-9D06-02542B3D6DDF}"/>
              </a:ext>
            </a:extLst>
          </p:cNvPr>
          <p:cNvSpPr>
            <a:spLocks noGrp="1"/>
          </p:cNvSpPr>
          <p:nvPr>
            <p:ph idx="1"/>
          </p:nvPr>
        </p:nvSpPr>
        <p:spPr>
          <a:xfrm>
            <a:off x="838201" y="3146400"/>
            <a:ext cx="4394200" cy="2454300"/>
          </a:xfrm>
        </p:spPr>
        <p:txBody>
          <a:bodyPr>
            <a:normAutofit/>
          </a:bodyPr>
          <a:lstStyle/>
          <a:p>
            <a:pPr marL="0" indent="0">
              <a:buNone/>
            </a:pPr>
            <a:r>
              <a:rPr lang="en-US" sz="1100" dirty="0">
                <a:solidFill>
                  <a:schemeClr val="bg1">
                    <a:alpha val="80000"/>
                  </a:schemeClr>
                </a:solidFill>
                <a:effectLst/>
                <a:latin typeface="Open Sans" panose="020B0606030504020204" pitchFamily="34" charset="0"/>
                <a:ea typeface="Times New Roman" panose="02020603050405020304" pitchFamily="18" charset="0"/>
              </a:rPr>
              <a:t>Android Studio was successfully installed; however, it finds an issue with Android licenses. This issue is pretty common and is mitigated by running the following command in CMD.</a:t>
            </a:r>
          </a:p>
          <a:p>
            <a:pPr>
              <a:buFont typeface="Wingdings" panose="05000000000000000000" pitchFamily="2" charset="2"/>
              <a:buChar char="Ø"/>
            </a:pPr>
            <a:r>
              <a:rPr lang="en-US" sz="1100" dirty="0">
                <a:solidFill>
                  <a:schemeClr val="bg1">
                    <a:alpha val="80000"/>
                  </a:schemeClr>
                </a:solidFill>
                <a:effectLst/>
                <a:latin typeface="Times New Roman" panose="02020603050405020304" pitchFamily="18" charset="0"/>
                <a:ea typeface="Times New Roman" panose="02020603050405020304" pitchFamily="18" charset="0"/>
              </a:rPr>
              <a:t>flutter doctor --android-licenses</a:t>
            </a:r>
          </a:p>
          <a:p>
            <a:pPr>
              <a:buFont typeface="Wingdings" panose="05000000000000000000" pitchFamily="2" charset="2"/>
              <a:buChar char="Ø"/>
            </a:pPr>
            <a:endParaRPr lang="en-US" sz="1100" dirty="0">
              <a:solidFill>
                <a:schemeClr val="bg1">
                  <a:alpha val="80000"/>
                </a:schemeClr>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1100" dirty="0">
                <a:solidFill>
                  <a:schemeClr val="bg1">
                    <a:alpha val="80000"/>
                  </a:schemeClr>
                </a:solidFill>
                <a:effectLst/>
                <a:latin typeface="Open Sans" panose="020B0606030504020204" pitchFamily="34" charset="0"/>
                <a:ea typeface="Times New Roman" panose="02020603050405020304" pitchFamily="18" charset="0"/>
              </a:rPr>
              <a:t>When asked, input </a:t>
            </a:r>
            <a:r>
              <a:rPr lang="en-US" sz="1100" b="1" dirty="0">
                <a:solidFill>
                  <a:schemeClr val="bg1">
                    <a:alpha val="80000"/>
                  </a:schemeClr>
                </a:solidFill>
                <a:effectLst/>
                <a:latin typeface="Open Sans" panose="020B0606030504020204" pitchFamily="34" charset="0"/>
                <a:ea typeface="Times New Roman" panose="02020603050405020304" pitchFamily="18" charset="0"/>
              </a:rPr>
              <a:t>y </a:t>
            </a:r>
            <a:r>
              <a:rPr lang="en-US" sz="1100" dirty="0">
                <a:solidFill>
                  <a:schemeClr val="bg1">
                    <a:alpha val="80000"/>
                  </a:schemeClr>
                </a:solidFill>
                <a:effectLst/>
                <a:latin typeface="Open Sans" panose="020B0606030504020204" pitchFamily="34" charset="0"/>
                <a:ea typeface="Times New Roman" panose="02020603050405020304" pitchFamily="18" charset="0"/>
              </a:rPr>
              <a:t>to all prompts, to accept licenses.</a:t>
            </a:r>
            <a:endParaRPr lang="en-US" sz="1100" dirty="0">
              <a:solidFill>
                <a:schemeClr val="bg1">
                  <a:alpha val="80000"/>
                </a:schemeClr>
              </a:solidFill>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1100" dirty="0">
                <a:solidFill>
                  <a:schemeClr val="bg1">
                    <a:alpha val="80000"/>
                  </a:schemeClr>
                </a:solidFill>
                <a:effectLst/>
                <a:latin typeface="Times New Roman" panose="02020603050405020304" pitchFamily="18" charset="0"/>
                <a:ea typeface="Times New Roman" panose="02020603050405020304" pitchFamily="18" charset="0"/>
              </a:rPr>
              <a:t>C:\Users\tomz&gt;flutter doctor --android-licenses</a:t>
            </a:r>
          </a:p>
          <a:p>
            <a:pPr>
              <a:buFont typeface="Wingdings" panose="05000000000000000000" pitchFamily="2" charset="2"/>
              <a:buChar char="Ø"/>
            </a:pPr>
            <a:r>
              <a:rPr lang="en-US" sz="1100" dirty="0">
                <a:solidFill>
                  <a:schemeClr val="bg1">
                    <a:alpha val="80000"/>
                  </a:schemeClr>
                </a:solidFill>
                <a:effectLst/>
                <a:latin typeface="Times New Roman" panose="02020603050405020304" pitchFamily="18" charset="0"/>
                <a:ea typeface="Times New Roman" panose="02020603050405020304" pitchFamily="18" charset="0"/>
              </a:rPr>
              <a:t>5 of 7 SDK package licenses not accepted. 100% Computing updates...</a:t>
            </a:r>
          </a:p>
          <a:p>
            <a:pPr>
              <a:buFont typeface="Wingdings" panose="05000000000000000000" pitchFamily="2" charset="2"/>
              <a:buChar char="Ø"/>
            </a:pPr>
            <a:r>
              <a:rPr lang="en-US" sz="1100" dirty="0">
                <a:solidFill>
                  <a:schemeClr val="bg1">
                    <a:alpha val="80000"/>
                  </a:schemeClr>
                </a:solidFill>
                <a:effectLst/>
                <a:latin typeface="Times New Roman" panose="02020603050405020304" pitchFamily="18" charset="0"/>
                <a:ea typeface="Times New Roman" panose="02020603050405020304" pitchFamily="18" charset="0"/>
              </a:rPr>
              <a:t>Review licenses that have not been accepted (y/N)? y</a:t>
            </a:r>
          </a:p>
          <a:p>
            <a:pPr>
              <a:buFont typeface="Wingdings" panose="05000000000000000000" pitchFamily="2" charset="2"/>
              <a:buChar char="Ø"/>
            </a:pPr>
            <a:endParaRPr lang="en-US" sz="1100" dirty="0">
              <a:solidFill>
                <a:schemeClr val="bg1">
                  <a:alpha val="80000"/>
                </a:schemeClr>
              </a:solidFill>
              <a:effectLst/>
              <a:latin typeface="Times New Roman" panose="02020603050405020304" pitchFamily="18" charset="0"/>
              <a:ea typeface="Times New Roman" panose="02020603050405020304" pitchFamily="18" charset="0"/>
            </a:endParaRPr>
          </a:p>
          <a:p>
            <a:endParaRPr lang="en-US" sz="1100" dirty="0">
              <a:solidFill>
                <a:schemeClr val="bg1">
                  <a:alpha val="80000"/>
                </a:schemeClr>
              </a:solidFill>
            </a:endParaRPr>
          </a:p>
        </p:txBody>
      </p:sp>
      <p:pic>
        <p:nvPicPr>
          <p:cNvPr id="5" name="Picture 4" descr="A robot with a face">
            <a:extLst>
              <a:ext uri="{FF2B5EF4-FFF2-40B4-BE49-F238E27FC236}">
                <a16:creationId xmlns:a16="http://schemas.microsoft.com/office/drawing/2014/main" id="{CF3FCDC7-4CE6-C7F5-282E-8D36819C8148}"/>
              </a:ext>
            </a:extLst>
          </p:cNvPr>
          <p:cNvPicPr>
            <a:picLocks noChangeAspect="1"/>
          </p:cNvPicPr>
          <p:nvPr/>
        </p:nvPicPr>
        <p:blipFill rotWithShape="1">
          <a:blip r:embed="rId2"/>
          <a:srcRect l="34268" r="1" b="1"/>
          <a:stretch/>
        </p:blipFill>
        <p:spPr>
          <a:xfrm>
            <a:off x="5752193" y="10"/>
            <a:ext cx="6439807" cy="6857989"/>
          </a:xfrm>
          <a:custGeom>
            <a:avLst/>
            <a:gdLst/>
            <a:ahLst/>
            <a:cxnLst/>
            <a:rect l="l" t="t" r="r" b="b"/>
            <a:pathLst>
              <a:path w="643980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1"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2" y="528850"/>
                  <a:pt x="335479" y="536547"/>
                  <a:pt x="337867" y="544146"/>
                </a:cubicBezTo>
                <a:lnTo>
                  <a:pt x="340032" y="549926"/>
                </a:lnTo>
                <a:lnTo>
                  <a:pt x="340448" y="551717"/>
                </a:lnTo>
                <a:lnTo>
                  <a:pt x="346286" y="566616"/>
                </a:lnTo>
                <a:lnTo>
                  <a:pt x="346338" y="566754"/>
                </a:lnTo>
                <a:lnTo>
                  <a:pt x="352655" y="583595"/>
                </a:lnTo>
                <a:lnTo>
                  <a:pt x="359451" y="612658"/>
                </a:lnTo>
                <a:cubicBezTo>
                  <a:pt x="358988" y="604728"/>
                  <a:pt x="357231" y="597005"/>
                  <a:pt x="354829" y="589388"/>
                </a:cubicBezTo>
                <a:lnTo>
                  <a:pt x="352655" y="583595"/>
                </a:lnTo>
                <a:lnTo>
                  <a:pt x="352236" y="581804"/>
                </a:lnTo>
                <a:lnTo>
                  <a:pt x="346286" y="566616"/>
                </a:lnTo>
                <a:lnTo>
                  <a:pt x="340032" y="549926"/>
                </a:lnTo>
                <a:close/>
                <a:moveTo>
                  <a:pt x="384407" y="268794"/>
                </a:moveTo>
                <a:lnTo>
                  <a:pt x="387837" y="328017"/>
                </a:lnTo>
                <a:cubicBezTo>
                  <a:pt x="389527" y="318646"/>
                  <a:pt x="389932" y="309031"/>
                  <a:pt x="389283" y="299164"/>
                </a:cubicBezTo>
                <a:cubicBezTo>
                  <a:pt x="388634" y="289296"/>
                  <a:pt x="386932" y="279176"/>
                  <a:pt x="384407" y="268794"/>
                </a:cubicBezTo>
                <a:close/>
                <a:moveTo>
                  <a:pt x="66991" y="0"/>
                </a:moveTo>
                <a:lnTo>
                  <a:pt x="6439807" y="0"/>
                </a:lnTo>
                <a:lnTo>
                  <a:pt x="6439807" y="6857999"/>
                </a:lnTo>
                <a:lnTo>
                  <a:pt x="149318" y="6857999"/>
                </a:lnTo>
                <a:lnTo>
                  <a:pt x="149318" y="6857457"/>
                </a:lnTo>
                <a:lnTo>
                  <a:pt x="22079" y="6857457"/>
                </a:lnTo>
                <a:lnTo>
                  <a:pt x="26851" y="6796804"/>
                </a:lnTo>
                <a:cubicBezTo>
                  <a:pt x="32162" y="6777207"/>
                  <a:pt x="39591" y="6758011"/>
                  <a:pt x="44354" y="6738388"/>
                </a:cubicBezTo>
                <a:cubicBezTo>
                  <a:pt x="48736" y="6720103"/>
                  <a:pt x="58832" y="6702955"/>
                  <a:pt x="67214" y="6685617"/>
                </a:cubicBezTo>
                <a:cubicBezTo>
                  <a:pt x="83217" y="6652472"/>
                  <a:pt x="73120" y="6617036"/>
                  <a:pt x="77310" y="6583128"/>
                </a:cubicBezTo>
                <a:cubicBezTo>
                  <a:pt x="78646" y="6572269"/>
                  <a:pt x="80168" y="6561411"/>
                  <a:pt x="82837" y="6550742"/>
                </a:cubicBezTo>
                <a:cubicBezTo>
                  <a:pt x="89885" y="6521593"/>
                  <a:pt x="95981" y="6491874"/>
                  <a:pt x="105698" y="6463490"/>
                </a:cubicBezTo>
                <a:cubicBezTo>
                  <a:pt x="116555" y="6431292"/>
                  <a:pt x="131034" y="6400429"/>
                  <a:pt x="146085" y="6363664"/>
                </a:cubicBezTo>
                <a:cubicBezTo>
                  <a:pt x="142274" y="6350899"/>
                  <a:pt x="131986" y="6331277"/>
                  <a:pt x="131034" y="6311084"/>
                </a:cubicBezTo>
                <a:cubicBezTo>
                  <a:pt x="127795" y="6246121"/>
                  <a:pt x="145512" y="6185351"/>
                  <a:pt x="173519" y="6127247"/>
                </a:cubicBezTo>
                <a:cubicBezTo>
                  <a:pt x="181900" y="6109530"/>
                  <a:pt x="187424" y="6090477"/>
                  <a:pt x="195616" y="6072569"/>
                </a:cubicBezTo>
                <a:cubicBezTo>
                  <a:pt x="198472" y="6066284"/>
                  <a:pt x="204569" y="6058092"/>
                  <a:pt x="210287" y="6056948"/>
                </a:cubicBezTo>
                <a:cubicBezTo>
                  <a:pt x="243432" y="6050282"/>
                  <a:pt x="242862" y="6025515"/>
                  <a:pt x="244766" y="5999796"/>
                </a:cubicBezTo>
                <a:cubicBezTo>
                  <a:pt x="247051" y="5969124"/>
                  <a:pt x="252386" y="5938836"/>
                  <a:pt x="256958" y="5908355"/>
                </a:cubicBezTo>
                <a:cubicBezTo>
                  <a:pt x="257530" y="5904353"/>
                  <a:pt x="261530" y="5900735"/>
                  <a:pt x="264199" y="5897114"/>
                </a:cubicBezTo>
                <a:cubicBezTo>
                  <a:pt x="268199" y="5891590"/>
                  <a:pt x="274296" y="5886447"/>
                  <a:pt x="275818" y="5880348"/>
                </a:cubicBezTo>
                <a:cubicBezTo>
                  <a:pt x="283249" y="5849107"/>
                  <a:pt x="289535" y="5817674"/>
                  <a:pt x="296393" y="5786239"/>
                </a:cubicBezTo>
                <a:cubicBezTo>
                  <a:pt x="297919" y="5779191"/>
                  <a:pt x="299822" y="5771953"/>
                  <a:pt x="302870" y="5765474"/>
                </a:cubicBezTo>
                <a:cubicBezTo>
                  <a:pt x="305728" y="5759378"/>
                  <a:pt x="310682" y="5754234"/>
                  <a:pt x="313730" y="5748136"/>
                </a:cubicBezTo>
                <a:cubicBezTo>
                  <a:pt x="321921" y="5731564"/>
                  <a:pt x="329541" y="5714607"/>
                  <a:pt x="338685" y="5695178"/>
                </a:cubicBezTo>
                <a:cubicBezTo>
                  <a:pt x="321541" y="5684320"/>
                  <a:pt x="331258" y="5669647"/>
                  <a:pt x="339449" y="5651360"/>
                </a:cubicBezTo>
                <a:cubicBezTo>
                  <a:pt x="347831" y="5632691"/>
                  <a:pt x="350497" y="5611164"/>
                  <a:pt x="353546"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4" y="4893907"/>
                  <a:pt x="406697" y="4884572"/>
                </a:cubicBezTo>
                <a:cubicBezTo>
                  <a:pt x="399647" y="4857522"/>
                  <a:pt x="388978" y="4831420"/>
                  <a:pt x="384216" y="4803988"/>
                </a:cubicBezTo>
                <a:cubicBezTo>
                  <a:pt x="381551" y="4788747"/>
                  <a:pt x="386312" y="4771793"/>
                  <a:pt x="389741" y="4755980"/>
                </a:cubicBezTo>
                <a:cubicBezTo>
                  <a:pt x="393361"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1" y="4346201"/>
                  <a:pt x="391265" y="4340674"/>
                  <a:pt x="392218" y="4335722"/>
                </a:cubicBezTo>
                <a:cubicBezTo>
                  <a:pt x="401743" y="4281810"/>
                  <a:pt x="387837" y="4231324"/>
                  <a:pt x="369547" y="4181603"/>
                </a:cubicBezTo>
                <a:cubicBezTo>
                  <a:pt x="367642" y="4176461"/>
                  <a:pt x="368214" y="4170174"/>
                  <a:pt x="368595" y="4164458"/>
                </a:cubicBezTo>
                <a:cubicBezTo>
                  <a:pt x="369928" y="4148453"/>
                  <a:pt x="376597" y="4131119"/>
                  <a:pt x="372597" y="4116641"/>
                </a:cubicBezTo>
                <a:cubicBezTo>
                  <a:pt x="361545" y="4078159"/>
                  <a:pt x="348211" y="4040058"/>
                  <a:pt x="331447" y="4003861"/>
                </a:cubicBezTo>
                <a:cubicBezTo>
                  <a:pt x="314493" y="3967091"/>
                  <a:pt x="300203" y="3932993"/>
                  <a:pt x="317350" y="3890891"/>
                </a:cubicBezTo>
                <a:cubicBezTo>
                  <a:pt x="324589" y="3872985"/>
                  <a:pt x="319445" y="3849362"/>
                  <a:pt x="317541" y="3828785"/>
                </a:cubicBezTo>
                <a:cubicBezTo>
                  <a:pt x="316016" y="3813737"/>
                  <a:pt x="307442" y="3799258"/>
                  <a:pt x="307442" y="3784397"/>
                </a:cubicBezTo>
                <a:cubicBezTo>
                  <a:pt x="307442" y="3744770"/>
                  <a:pt x="297346" y="3709529"/>
                  <a:pt x="276771" y="3675238"/>
                </a:cubicBezTo>
                <a:cubicBezTo>
                  <a:pt x="268770" y="3661899"/>
                  <a:pt x="274105" y="3641134"/>
                  <a:pt x="272009" y="3623799"/>
                </a:cubicBezTo>
                <a:cubicBezTo>
                  <a:pt x="269533" y="3605509"/>
                  <a:pt x="267247" y="3586653"/>
                  <a:pt x="261721" y="3569124"/>
                </a:cubicBezTo>
                <a:cubicBezTo>
                  <a:pt x="247242" y="3523785"/>
                  <a:pt x="230859" y="3479015"/>
                  <a:pt x="215618" y="3433866"/>
                </a:cubicBezTo>
                <a:cubicBezTo>
                  <a:pt x="203045" y="3396719"/>
                  <a:pt x="212952" y="3360139"/>
                  <a:pt x="218285" y="3323372"/>
                </a:cubicBezTo>
                <a:cubicBezTo>
                  <a:pt x="221716" y="3300319"/>
                  <a:pt x="229907" y="3278795"/>
                  <a:pt x="217715" y="3252885"/>
                </a:cubicBezTo>
                <a:cubicBezTo>
                  <a:pt x="206093" y="3228119"/>
                  <a:pt x="208761" y="3196686"/>
                  <a:pt x="202474" y="3168870"/>
                </a:cubicBezTo>
                <a:cubicBezTo>
                  <a:pt x="197141" y="3145436"/>
                  <a:pt x="188566" y="3122770"/>
                  <a:pt x="180184" y="3100099"/>
                </a:cubicBezTo>
                <a:cubicBezTo>
                  <a:pt x="168753" y="3069235"/>
                  <a:pt x="156753" y="3038756"/>
                  <a:pt x="162468" y="3005035"/>
                </a:cubicBezTo>
                <a:cubicBezTo>
                  <a:pt x="168946" y="2966742"/>
                  <a:pt x="144561" y="2940455"/>
                  <a:pt x="128367" y="2910353"/>
                </a:cubicBezTo>
                <a:cubicBezTo>
                  <a:pt x="117318" y="2889587"/>
                  <a:pt x="109126" y="2866918"/>
                  <a:pt x="102267" y="2844248"/>
                </a:cubicBezTo>
                <a:cubicBezTo>
                  <a:pt x="93313" y="2813958"/>
                  <a:pt x="87978" y="2782716"/>
                  <a:pt x="79217" y="2752235"/>
                </a:cubicBezTo>
                <a:cubicBezTo>
                  <a:pt x="66072" y="2706131"/>
                  <a:pt x="55784"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2" y="2360933"/>
                </a:cubicBezTo>
                <a:cubicBezTo>
                  <a:pt x="28541" y="2356744"/>
                  <a:pt x="36543" y="2344741"/>
                  <a:pt x="37878" y="2335405"/>
                </a:cubicBezTo>
                <a:cubicBezTo>
                  <a:pt x="41877" y="2307402"/>
                  <a:pt x="35972" y="2281683"/>
                  <a:pt x="23017" y="2254633"/>
                </a:cubicBezTo>
                <a:cubicBezTo>
                  <a:pt x="10825" y="2229296"/>
                  <a:pt x="12159" y="2197670"/>
                  <a:pt x="7395" y="2168903"/>
                </a:cubicBezTo>
                <a:cubicBezTo>
                  <a:pt x="5681"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6" y="1938009"/>
                  <a:pt x="18445" y="1921817"/>
                </a:cubicBezTo>
                <a:cubicBezTo>
                  <a:pt x="19779" y="1915912"/>
                  <a:pt x="24922" y="1910004"/>
                  <a:pt x="24161" y="1904673"/>
                </a:cubicBezTo>
                <a:cubicBezTo>
                  <a:pt x="15970" y="1851709"/>
                  <a:pt x="52545" y="1813610"/>
                  <a:pt x="68738" y="1768838"/>
                </a:cubicBezTo>
                <a:cubicBezTo>
                  <a:pt x="85885" y="1721785"/>
                  <a:pt x="112174" y="1676253"/>
                  <a:pt x="104364" y="1623675"/>
                </a:cubicBezTo>
                <a:cubicBezTo>
                  <a:pt x="99601" y="1591859"/>
                  <a:pt x="88551" y="1561189"/>
                  <a:pt x="81883" y="1529563"/>
                </a:cubicBezTo>
                <a:cubicBezTo>
                  <a:pt x="79597" y="1518324"/>
                  <a:pt x="79979" y="1505751"/>
                  <a:pt x="82264" y="1494509"/>
                </a:cubicBezTo>
                <a:cubicBezTo>
                  <a:pt x="92744" y="1440216"/>
                  <a:pt x="94267" y="1386684"/>
                  <a:pt x="77120" y="1333341"/>
                </a:cubicBezTo>
                <a:cubicBezTo>
                  <a:pt x="74262" y="1324198"/>
                  <a:pt x="71597" y="1314483"/>
                  <a:pt x="71597" y="1304955"/>
                </a:cubicBezTo>
                <a:cubicBezTo>
                  <a:pt x="71597" y="1252757"/>
                  <a:pt x="75597" y="1201512"/>
                  <a:pt x="94267" y="1151600"/>
                </a:cubicBezTo>
                <a:cubicBezTo>
                  <a:pt x="100554" y="1134834"/>
                  <a:pt x="96553" y="1114449"/>
                  <a:pt x="98078" y="1095972"/>
                </a:cubicBezTo>
                <a:cubicBezTo>
                  <a:pt x="99409" y="1078826"/>
                  <a:pt x="99981" y="1061298"/>
                  <a:pt x="104364" y="1044725"/>
                </a:cubicBezTo>
                <a:cubicBezTo>
                  <a:pt x="110839" y="1020529"/>
                  <a:pt x="111601" y="998052"/>
                  <a:pt x="105887" y="973095"/>
                </a:cubicBezTo>
                <a:cubicBezTo>
                  <a:pt x="100554" y="949281"/>
                  <a:pt x="103220" y="923562"/>
                  <a:pt x="103029" y="898797"/>
                </a:cubicBezTo>
                <a:cubicBezTo>
                  <a:pt x="102839" y="871173"/>
                  <a:pt x="102649" y="843552"/>
                  <a:pt x="103601" y="815929"/>
                </a:cubicBezTo>
                <a:cubicBezTo>
                  <a:pt x="103981" y="804877"/>
                  <a:pt x="111601" y="792306"/>
                  <a:pt x="108553" y="783158"/>
                </a:cubicBezTo>
                <a:cubicBezTo>
                  <a:pt x="98267" y="753633"/>
                  <a:pt x="110649" y="724104"/>
                  <a:pt x="105127" y="694576"/>
                </a:cubicBezTo>
                <a:cubicBezTo>
                  <a:pt x="102267" y="680096"/>
                  <a:pt x="110078" y="663713"/>
                  <a:pt x="110839" y="648092"/>
                </a:cubicBezTo>
                <a:cubicBezTo>
                  <a:pt x="112174" y="622564"/>
                  <a:pt x="111601" y="597037"/>
                  <a:pt x="111983" y="571508"/>
                </a:cubicBezTo>
                <a:cubicBezTo>
                  <a:pt x="112174" y="563125"/>
                  <a:pt x="112936" y="554933"/>
                  <a:pt x="113318" y="546552"/>
                </a:cubicBezTo>
                <a:cubicBezTo>
                  <a:pt x="113697" y="539121"/>
                  <a:pt x="115411" y="531310"/>
                  <a:pt x="114081" y="524262"/>
                </a:cubicBezTo>
                <a:cubicBezTo>
                  <a:pt x="109315" y="498733"/>
                  <a:pt x="101505" y="473587"/>
                  <a:pt x="98457" y="447870"/>
                </a:cubicBezTo>
                <a:cubicBezTo>
                  <a:pt x="95792" y="425581"/>
                  <a:pt x="99409" y="402529"/>
                  <a:pt x="97505" y="380050"/>
                </a:cubicBezTo>
                <a:cubicBezTo>
                  <a:pt x="94267" y="340425"/>
                  <a:pt x="88551" y="300800"/>
                  <a:pt x="84930" y="261173"/>
                </a:cubicBezTo>
                <a:cubicBezTo>
                  <a:pt x="84168" y="252600"/>
                  <a:pt x="88934" y="243648"/>
                  <a:pt x="89314" y="234883"/>
                </a:cubicBezTo>
                <a:cubicBezTo>
                  <a:pt x="90266" y="207450"/>
                  <a:pt x="90457" y="180017"/>
                  <a:pt x="91027" y="152584"/>
                </a:cubicBezTo>
                <a:cubicBezTo>
                  <a:pt x="91218" y="136963"/>
                  <a:pt x="90647" y="121150"/>
                  <a:pt x="92361" y="105718"/>
                </a:cubicBezTo>
                <a:cubicBezTo>
                  <a:pt x="94647" y="85336"/>
                  <a:pt x="98078" y="66857"/>
                  <a:pt x="83217" y="47806"/>
                </a:cubicBezTo>
                <a:cubicBezTo>
                  <a:pt x="77453" y="40471"/>
                  <a:pt x="73691" y="32636"/>
                  <a:pt x="71207" y="24480"/>
                </a:cubicBezTo>
                <a:close/>
              </a:path>
            </a:pathLst>
          </a:custGeom>
          <a:effectLst>
            <a:outerShdw blurRad="381000" dist="152400" dir="10800000" algn="tr" rotWithShape="0">
              <a:prstClr val="black">
                <a:alpha val="10000"/>
              </a:prstClr>
            </a:outerShdw>
          </a:effectLst>
        </p:spPr>
      </p:pic>
      <p:grpSp>
        <p:nvGrpSpPr>
          <p:cNvPr id="11" name="Group 10">
            <a:extLst>
              <a:ext uri="{FF2B5EF4-FFF2-40B4-BE49-F238E27FC236}">
                <a16:creationId xmlns:a16="http://schemas.microsoft.com/office/drawing/2014/main" id="{4EA04677-6B2C-40F4-975C-ED91965527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2356" y="0"/>
            <a:ext cx="874718" cy="6857455"/>
            <a:chOff x="5632356" y="0"/>
            <a:chExt cx="874718" cy="6857455"/>
          </a:xfrm>
        </p:grpSpPr>
        <p:sp>
          <p:nvSpPr>
            <p:cNvPr id="12" name="Freeform: Shape 11">
              <a:extLst>
                <a:ext uri="{FF2B5EF4-FFF2-40B4-BE49-F238E27FC236}">
                  <a16:creationId xmlns:a16="http://schemas.microsoft.com/office/drawing/2014/main" id="{3F1ABE2E-F19F-4BD3-B0FA-8A2D8885B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C86D0F14-D449-4833-830D-A382829E2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532042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B589F22-3762-444E-9FC9-BE1800ABE3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08" y="-15640"/>
            <a:ext cx="4633823" cy="6873639"/>
            <a:chOff x="-3208" y="-15640"/>
            <a:chExt cx="4633823" cy="6873639"/>
          </a:xfrm>
        </p:grpSpPr>
        <p:sp>
          <p:nvSpPr>
            <p:cNvPr id="9" name="Rectangle 8">
              <a:extLst>
                <a:ext uri="{FF2B5EF4-FFF2-40B4-BE49-F238E27FC236}">
                  <a16:creationId xmlns:a16="http://schemas.microsoft.com/office/drawing/2014/main" id="{23909A00-EE5C-7921-011D-2243441BC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15296" y="1112089"/>
              <a:ext cx="6857999" cy="4633821"/>
            </a:xfrm>
            <a:prstGeom prst="rect">
              <a:avLst/>
            </a:prstGeom>
            <a:gradFill>
              <a:gsLst>
                <a:gs pos="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CBD214-1DC9-F322-5194-DA04BAC2F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23116" y="1104268"/>
              <a:ext cx="6873639" cy="4633823"/>
            </a:xfrm>
            <a:prstGeom prst="rect">
              <a:avLst/>
            </a:prstGeom>
            <a:gradFill flip="none" rotWithShape="1">
              <a:gsLst>
                <a:gs pos="0">
                  <a:schemeClr val="accent5">
                    <a:lumMod val="75000"/>
                    <a:alpha val="92000"/>
                  </a:schemeClr>
                </a:gs>
                <a:gs pos="41000">
                  <a:schemeClr val="accent5">
                    <a:lumMod val="75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6EAF9FB-B8E3-9BF3-8388-AE1AC0CB4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90955" y="-462733"/>
              <a:ext cx="3284738" cy="4194579"/>
            </a:xfrm>
            <a:prstGeom prst="rect">
              <a:avLst/>
            </a:prstGeom>
            <a:gradFill flip="none" rotWithShape="1">
              <a:gsLst>
                <a:gs pos="0">
                  <a:schemeClr val="accent2">
                    <a:alpha val="70000"/>
                  </a:schemeClr>
                </a:gs>
                <a:gs pos="5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66F929A5-F2C4-4C40-820B-96A38723DBE0}"/>
              </a:ext>
            </a:extLst>
          </p:cNvPr>
          <p:cNvSpPr>
            <a:spLocks noGrp="1"/>
          </p:cNvSpPr>
          <p:nvPr>
            <p:ph type="title"/>
          </p:nvPr>
        </p:nvSpPr>
        <p:spPr>
          <a:xfrm>
            <a:off x="635606" y="1582615"/>
            <a:ext cx="3356194" cy="3669323"/>
          </a:xfrm>
        </p:spPr>
        <p:txBody>
          <a:bodyPr anchor="ctr">
            <a:normAutofit/>
          </a:bodyPr>
          <a:lstStyle/>
          <a:p>
            <a:pPr algn="ctr"/>
            <a:r>
              <a:rPr lang="en-US" sz="3200">
                <a:solidFill>
                  <a:srgbClr val="FFFFFF"/>
                </a:solidFill>
              </a:rPr>
              <a:t>Calling the doctor</a:t>
            </a:r>
          </a:p>
        </p:txBody>
      </p:sp>
      <p:sp>
        <p:nvSpPr>
          <p:cNvPr id="3" name="Content Placeholder 2">
            <a:extLst>
              <a:ext uri="{FF2B5EF4-FFF2-40B4-BE49-F238E27FC236}">
                <a16:creationId xmlns:a16="http://schemas.microsoft.com/office/drawing/2014/main" id="{9F852BB6-31AB-400A-BF9A-9866F75518C2}"/>
              </a:ext>
            </a:extLst>
          </p:cNvPr>
          <p:cNvSpPr>
            <a:spLocks noGrp="1"/>
          </p:cNvSpPr>
          <p:nvPr>
            <p:ph idx="1"/>
          </p:nvPr>
        </p:nvSpPr>
        <p:spPr>
          <a:xfrm>
            <a:off x="4830186" y="585222"/>
            <a:ext cx="5091054" cy="4443978"/>
          </a:xfrm>
        </p:spPr>
        <p:txBody>
          <a:bodyPr anchor="ctr">
            <a:normAutofit fontScale="92500" lnSpcReduction="10000"/>
          </a:bodyPr>
          <a:lstStyle/>
          <a:p>
            <a:r>
              <a:rPr lang="en-US" sz="1100" dirty="0">
                <a:effectLst/>
                <a:latin typeface="Open Sans" panose="020B0606030504020204" pitchFamily="34" charset="0"/>
                <a:ea typeface="Times New Roman" panose="02020603050405020304" pitchFamily="18" charset="0"/>
              </a:rPr>
              <a:t>Running the </a:t>
            </a:r>
            <a:r>
              <a:rPr lang="en-US" sz="1100" i="1" dirty="0">
                <a:effectLst/>
                <a:latin typeface="Open Sans" panose="020B0606030504020204" pitchFamily="34" charset="0"/>
                <a:ea typeface="Times New Roman" panose="02020603050405020304" pitchFamily="18" charset="0"/>
              </a:rPr>
              <a:t>flutter doctor</a:t>
            </a:r>
            <a:r>
              <a:rPr lang="en-US" sz="1100" dirty="0">
                <a:effectLst/>
                <a:latin typeface="Open Sans" panose="020B0606030504020204" pitchFamily="34" charset="0"/>
                <a:ea typeface="Times New Roman" panose="02020603050405020304" pitchFamily="18" charset="0"/>
              </a:rPr>
              <a:t> command again shows the issue resolved.</a:t>
            </a:r>
          </a:p>
          <a:p>
            <a:endParaRPr lang="en-US" sz="1100" dirty="0">
              <a:effectLst/>
              <a:latin typeface="Times New Roman" panose="02020603050405020304" pitchFamily="18" charset="0"/>
              <a:ea typeface="Times New Roman" panose="02020603050405020304" pitchFamily="18" charset="0"/>
            </a:endParaRPr>
          </a:p>
          <a:p>
            <a:endParaRPr lang="en-US" sz="11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q"/>
            </a:pPr>
            <a:r>
              <a:rPr lang="en-US" sz="1100" dirty="0"/>
              <a:t>C:\Users\tomz&gt;flutter doctor</a:t>
            </a:r>
          </a:p>
          <a:p>
            <a:pPr>
              <a:buFont typeface="Wingdings" panose="05000000000000000000" pitchFamily="2" charset="2"/>
              <a:buChar char="q"/>
            </a:pPr>
            <a:r>
              <a:rPr lang="en-US" sz="1100" dirty="0"/>
              <a:t>Doctor summary (to see all details, run flutter doctor -v):</a:t>
            </a:r>
          </a:p>
          <a:p>
            <a:pPr>
              <a:buFont typeface="Wingdings" panose="05000000000000000000" pitchFamily="2" charset="2"/>
              <a:buChar char="q"/>
            </a:pPr>
            <a:r>
              <a:rPr lang="en-US" sz="1100" dirty="0"/>
              <a:t>[√] Flutter (Channel stable, 2.10.4, on Microsoft Windows [Version 10.0.19041.746], locale </a:t>
            </a:r>
            <a:r>
              <a:rPr lang="en-US" sz="1100" dirty="0" err="1"/>
              <a:t>en</a:t>
            </a:r>
            <a:r>
              <a:rPr lang="en-US" sz="1100" dirty="0"/>
              <a:t>-US)</a:t>
            </a:r>
          </a:p>
          <a:p>
            <a:pPr>
              <a:buFont typeface="Wingdings" panose="05000000000000000000" pitchFamily="2" charset="2"/>
              <a:buChar char="q"/>
            </a:pPr>
            <a:r>
              <a:rPr lang="en-US" sz="1100" dirty="0"/>
              <a:t>[√] Android toolchain - develop for Android devices (Android SDK version 32.1.0-rc1)</a:t>
            </a:r>
          </a:p>
          <a:p>
            <a:pPr>
              <a:buFont typeface="Wingdings" panose="05000000000000000000" pitchFamily="2" charset="2"/>
              <a:buChar char="q"/>
            </a:pPr>
            <a:r>
              <a:rPr lang="en-US" sz="1100" dirty="0"/>
              <a:t>[√] Chrome - develop for the web</a:t>
            </a:r>
          </a:p>
          <a:p>
            <a:pPr>
              <a:buFont typeface="Wingdings" panose="05000000000000000000" pitchFamily="2" charset="2"/>
              <a:buChar char="q"/>
            </a:pPr>
            <a:r>
              <a:rPr lang="en-US" sz="1100" dirty="0"/>
              <a:t>[X] Visual Studio - develop for Windows</a:t>
            </a:r>
          </a:p>
          <a:p>
            <a:pPr>
              <a:buFont typeface="Wingdings" panose="05000000000000000000" pitchFamily="2" charset="2"/>
              <a:buChar char="q"/>
            </a:pPr>
            <a:r>
              <a:rPr lang="en-US" sz="1100" dirty="0"/>
              <a:t>    X Visual Studio not installed; this is necessary for Windows development.</a:t>
            </a:r>
          </a:p>
          <a:p>
            <a:pPr>
              <a:buFont typeface="Wingdings" panose="05000000000000000000" pitchFamily="2" charset="2"/>
              <a:buChar char="q"/>
            </a:pPr>
            <a:r>
              <a:rPr lang="en-US" sz="1100" dirty="0"/>
              <a:t>      Download at https://visualstudio.microsoft.com/downloads/.</a:t>
            </a:r>
          </a:p>
          <a:p>
            <a:pPr>
              <a:buFont typeface="Wingdings" panose="05000000000000000000" pitchFamily="2" charset="2"/>
              <a:buChar char="q"/>
            </a:pPr>
            <a:r>
              <a:rPr lang="en-US" sz="1100" dirty="0"/>
              <a:t>      Please install the "Desktop development with C++" workload, including all of its default components</a:t>
            </a:r>
          </a:p>
          <a:p>
            <a:pPr>
              <a:buFont typeface="Wingdings" panose="05000000000000000000" pitchFamily="2" charset="2"/>
              <a:buChar char="q"/>
            </a:pPr>
            <a:r>
              <a:rPr lang="en-US" sz="1100" dirty="0"/>
              <a:t>[√] Android Studio (version 2021.1)</a:t>
            </a:r>
          </a:p>
          <a:p>
            <a:pPr>
              <a:buFont typeface="Wingdings" panose="05000000000000000000" pitchFamily="2" charset="2"/>
              <a:buChar char="q"/>
            </a:pPr>
            <a:r>
              <a:rPr lang="en-US" sz="1100" dirty="0"/>
              <a:t>[√] Connected device (2 available)</a:t>
            </a:r>
          </a:p>
          <a:p>
            <a:pPr>
              <a:buFont typeface="Wingdings" panose="05000000000000000000" pitchFamily="2" charset="2"/>
              <a:buChar char="q"/>
            </a:pPr>
            <a:r>
              <a:rPr lang="en-US" sz="1100" dirty="0"/>
              <a:t>[√] HTTP Host Availability</a:t>
            </a:r>
          </a:p>
          <a:p>
            <a:pPr>
              <a:buFont typeface="Wingdings" panose="05000000000000000000" pitchFamily="2" charset="2"/>
              <a:buChar char="q"/>
            </a:pPr>
            <a:endParaRPr lang="en-US" sz="1100" dirty="0"/>
          </a:p>
          <a:p>
            <a:pPr>
              <a:buFont typeface="Wingdings" panose="05000000000000000000" pitchFamily="2" charset="2"/>
              <a:buChar char="q"/>
            </a:pPr>
            <a:r>
              <a:rPr lang="en-US" sz="1100" dirty="0"/>
              <a:t>! Doctor found issues in 1 category.</a:t>
            </a:r>
          </a:p>
          <a:p>
            <a:endParaRPr lang="en-US" sz="1100" dirty="0"/>
          </a:p>
        </p:txBody>
      </p:sp>
    </p:spTree>
    <p:extLst>
      <p:ext uri="{BB962C8B-B14F-4D97-AF65-F5344CB8AC3E}">
        <p14:creationId xmlns:p14="http://schemas.microsoft.com/office/powerpoint/2010/main" val="2623930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5B16-C0A5-467E-9181-F56E63AC9251}"/>
              </a:ext>
            </a:extLst>
          </p:cNvPr>
          <p:cNvSpPr>
            <a:spLocks noGrp="1"/>
          </p:cNvSpPr>
          <p:nvPr>
            <p:ph type="title"/>
          </p:nvPr>
        </p:nvSpPr>
        <p:spPr>
          <a:xfrm>
            <a:off x="762000" y="761998"/>
            <a:ext cx="5334000" cy="1708246"/>
          </a:xfrm>
        </p:spPr>
        <p:txBody>
          <a:bodyPr anchor="ctr">
            <a:normAutofit/>
          </a:bodyPr>
          <a:lstStyle/>
          <a:p>
            <a:r>
              <a:rPr lang="en-US" sz="4000" dirty="0"/>
              <a:t>Step 15: Verification of the Flutter Installation	</a:t>
            </a:r>
          </a:p>
        </p:txBody>
      </p:sp>
      <p:sp>
        <p:nvSpPr>
          <p:cNvPr id="3" name="Content Placeholder 2">
            <a:extLst>
              <a:ext uri="{FF2B5EF4-FFF2-40B4-BE49-F238E27FC236}">
                <a16:creationId xmlns:a16="http://schemas.microsoft.com/office/drawing/2014/main" id="{C8CC2354-8F49-45F9-87C0-CB2DBC700984}"/>
              </a:ext>
            </a:extLst>
          </p:cNvPr>
          <p:cNvSpPr>
            <a:spLocks noGrp="1"/>
          </p:cNvSpPr>
          <p:nvPr>
            <p:ph idx="1"/>
          </p:nvPr>
        </p:nvSpPr>
        <p:spPr>
          <a:xfrm>
            <a:off x="761994" y="2470245"/>
            <a:ext cx="5334006" cy="3769835"/>
          </a:xfrm>
        </p:spPr>
        <p:txBody>
          <a:bodyPr anchor="ctr">
            <a:normAutofit/>
          </a:bodyPr>
          <a:lstStyle/>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a. Run a Sample App:</a:t>
            </a:r>
          </a:p>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 Create a new Flutter app by running flutter create myapp in the terminal.</a:t>
            </a:r>
          </a:p>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 Navigate to the app's directory using cd myapp.</a:t>
            </a:r>
          </a:p>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 Launch the app on an emulator using flutter run.</a:t>
            </a:r>
          </a:p>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b. Verify IDE Integration:</a:t>
            </a:r>
          </a:p>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 Open your chosen IDE (Android Studio or Xcode) and open your Flutter project folder.</a:t>
            </a:r>
          </a:p>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 Make sure you can access Flutter-specific features from within the IDE.</a:t>
            </a:r>
          </a:p>
          <a:p>
            <a:pPr marL="0" marR="0" indent="0">
              <a:spcBef>
                <a:spcPts val="0"/>
              </a:spcBef>
              <a:spcAft>
                <a:spcPts val="800"/>
              </a:spcAft>
              <a:buNone/>
            </a:pPr>
            <a:endParaRPr lang="en-US" sz="1300" kern="10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300" kern="100">
                <a:effectLst/>
                <a:latin typeface="Calibri" panose="020F0502020204030204" pitchFamily="34" charset="0"/>
                <a:ea typeface="Calibri" panose="020F0502020204030204" pitchFamily="34" charset="0"/>
                <a:cs typeface="Times New Roman" panose="02020603050405020304" pitchFamily="18" charset="0"/>
              </a:rPr>
              <a:t>Congratulations! You've successfully set up your Flutter development environment, installed Android Studio or Xcode, and configured emulators to test your apps. You're now ready to start building cross-platform mobile applications using Flutter. Remember to consult the official Flutter documentation for more in-depth information and troubleshooting tips.</a:t>
            </a:r>
          </a:p>
          <a:p>
            <a:endParaRPr lang="en-US" sz="1300"/>
          </a:p>
        </p:txBody>
      </p:sp>
      <p:sp>
        <p:nvSpPr>
          <p:cNvPr id="10" name="Rectangle 9">
            <a:extLst>
              <a:ext uri="{FF2B5EF4-FFF2-40B4-BE49-F238E27FC236}">
                <a16:creationId xmlns:a16="http://schemas.microsoft.com/office/drawing/2014/main" id="{0D05C9B4-B5C9-2D4D-23C9-CEE72646F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1800" y="-1"/>
            <a:ext cx="5410200" cy="6858001"/>
          </a:xfrm>
          <a:prstGeom prst="rect">
            <a:avLst/>
          </a:prstGeom>
          <a:solidFill>
            <a:srgbClr val="FFFFFF"/>
          </a:solidFill>
          <a:ln>
            <a:noFill/>
          </a:ln>
          <a:effectLst>
            <a:outerShdw blurRad="266700" dist="215900" dir="858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Hot Air Balloon">
            <a:extLst>
              <a:ext uri="{FF2B5EF4-FFF2-40B4-BE49-F238E27FC236}">
                <a16:creationId xmlns:a16="http://schemas.microsoft.com/office/drawing/2014/main" id="{81E691DE-0917-B1A6-F799-48AFC3098E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05798" y="931485"/>
            <a:ext cx="3758045" cy="3758045"/>
          </a:xfrm>
          <a:prstGeom prst="rect">
            <a:avLst/>
          </a:prstGeom>
        </p:spPr>
      </p:pic>
    </p:spTree>
    <p:extLst>
      <p:ext uri="{BB962C8B-B14F-4D97-AF65-F5344CB8AC3E}">
        <p14:creationId xmlns:p14="http://schemas.microsoft.com/office/powerpoint/2010/main" val="27477922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08F0-39E2-4DDA-8933-B5F11B4E4334}"/>
              </a:ext>
            </a:extLst>
          </p:cNvPr>
          <p:cNvSpPr>
            <a:spLocks noGrp="1"/>
          </p:cNvSpPr>
          <p:nvPr>
            <p:ph type="title"/>
          </p:nvPr>
        </p:nvSpPr>
        <p:spPr/>
        <p:txBody>
          <a:bodyPr/>
          <a:lstStyle/>
          <a:p>
            <a:r>
              <a:rPr lang="en-US" sz="1800" b="1" kern="100">
                <a:effectLst/>
                <a:latin typeface="Calibri" panose="020F0502020204030204" pitchFamily="34" charset="0"/>
                <a:ea typeface="Calibri" panose="020F0502020204030204" pitchFamily="34" charset="0"/>
                <a:cs typeface="Times New Roman" panose="02020603050405020304" pitchFamily="18" charset="0"/>
              </a:rPr>
              <a:t> Xcode (for iOS development):</a:t>
            </a:r>
            <a:br>
              <a:rPr lang="en-US" sz="1800" kern="10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5" name="Content Placeholder 2">
            <a:extLst>
              <a:ext uri="{FF2B5EF4-FFF2-40B4-BE49-F238E27FC236}">
                <a16:creationId xmlns:a16="http://schemas.microsoft.com/office/drawing/2014/main" id="{7EC3D4B0-E5C0-1EE1-282E-7065E27AC9BF}"/>
              </a:ext>
            </a:extLst>
          </p:cNvPr>
          <p:cNvGraphicFramePr>
            <a:graphicFrameLocks noGrp="1"/>
          </p:cNvGraphicFramePr>
          <p:nvPr>
            <p:ph idx="1"/>
            <p:extLst>
              <p:ext uri="{D42A27DB-BD31-4B8C-83A1-F6EECF244321}">
                <p14:modId xmlns:p14="http://schemas.microsoft.com/office/powerpoint/2010/main" val="1535147235"/>
              </p:ext>
            </p:extLst>
          </p:nvPr>
        </p:nvGraphicFramePr>
        <p:xfrm>
          <a:off x="838200" y="1795145"/>
          <a:ext cx="9723120" cy="399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9684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bile device with apps">
            <a:extLst>
              <a:ext uri="{FF2B5EF4-FFF2-40B4-BE49-F238E27FC236}">
                <a16:creationId xmlns:a16="http://schemas.microsoft.com/office/drawing/2014/main" id="{B06377DA-25C8-727D-E431-3BCB6990C620}"/>
              </a:ext>
            </a:extLst>
          </p:cNvPr>
          <p:cNvPicPr>
            <a:picLocks noChangeAspect="1"/>
          </p:cNvPicPr>
          <p:nvPr/>
        </p:nvPicPr>
        <p:blipFill rotWithShape="1">
          <a:blip r:embed="rId2"/>
          <a:srcRect l="44814" r="5243"/>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F2EE25-EC58-4B0C-A7A6-0954AE038091}"/>
              </a:ext>
            </a:extLst>
          </p:cNvPr>
          <p:cNvSpPr>
            <a:spLocks noGrp="1"/>
          </p:cNvSpPr>
          <p:nvPr>
            <p:ph type="title"/>
          </p:nvPr>
        </p:nvSpPr>
        <p:spPr>
          <a:xfrm>
            <a:off x="761801" y="328512"/>
            <a:ext cx="4778387" cy="1628970"/>
          </a:xfrm>
        </p:spPr>
        <p:txBody>
          <a:bodyPr anchor="ctr">
            <a:normAutofit/>
          </a:bodyPr>
          <a:lstStyle/>
          <a:p>
            <a:r>
              <a:rPr lang="en-US" sz="4000" kern="100">
                <a:effectLst/>
                <a:latin typeface="Calibri" panose="020F0502020204030204" pitchFamily="34" charset="0"/>
                <a:ea typeface="Calibri" panose="020F0502020204030204" pitchFamily="34" charset="0"/>
                <a:cs typeface="Times New Roman" panose="02020603050405020304" pitchFamily="18" charset="0"/>
              </a:rPr>
              <a:t>Verify IDE Integration:</a:t>
            </a:r>
            <a:br>
              <a:rPr lang="en-US" sz="4000" kern="100">
                <a:effectLst/>
                <a:latin typeface="Calibri" panose="020F0502020204030204" pitchFamily="34" charset="0"/>
                <a:ea typeface="Calibri" panose="020F0502020204030204" pitchFamily="34" charset="0"/>
                <a:cs typeface="Times New Roman" panose="02020603050405020304" pitchFamily="18" charset="0"/>
              </a:rPr>
            </a:br>
            <a:endParaRPr lang="en-US" sz="4000"/>
          </a:p>
        </p:txBody>
      </p:sp>
      <p:sp>
        <p:nvSpPr>
          <p:cNvPr id="3" name="Content Placeholder 2">
            <a:extLst>
              <a:ext uri="{FF2B5EF4-FFF2-40B4-BE49-F238E27FC236}">
                <a16:creationId xmlns:a16="http://schemas.microsoft.com/office/drawing/2014/main" id="{1F1E3ACE-240F-4926-859D-443234D34DC8}"/>
              </a:ext>
            </a:extLst>
          </p:cNvPr>
          <p:cNvSpPr>
            <a:spLocks noGrp="1"/>
          </p:cNvSpPr>
          <p:nvPr>
            <p:ph idx="1"/>
          </p:nvPr>
        </p:nvSpPr>
        <p:spPr>
          <a:xfrm>
            <a:off x="761801" y="2884929"/>
            <a:ext cx="4659756" cy="3374137"/>
          </a:xfrm>
        </p:spPr>
        <p:txBody>
          <a:bodyPr anchor="ctr">
            <a:normAutofit/>
          </a:bodyPr>
          <a:lstStyle/>
          <a:p>
            <a:pPr marL="0" marR="0" indent="0">
              <a:spcBef>
                <a:spcPts val="0"/>
              </a:spcBef>
              <a:spcAft>
                <a:spcPts val="800"/>
              </a:spcAft>
              <a:buNone/>
            </a:pPr>
            <a:r>
              <a:rPr lang="en-US" sz="1600" kern="100">
                <a:effectLst/>
                <a:latin typeface="Calibri" panose="020F0502020204030204" pitchFamily="34" charset="0"/>
                <a:ea typeface="Calibri" panose="020F0502020204030204" pitchFamily="34" charset="0"/>
                <a:cs typeface="Times New Roman" panose="02020603050405020304" pitchFamily="18" charset="0"/>
              </a:rPr>
              <a:t>Open your chosen IDE (Android Studio or Xcode) and open your Flutter project folder.</a:t>
            </a:r>
          </a:p>
          <a:p>
            <a:pPr marR="0">
              <a:spcBef>
                <a:spcPts val="0"/>
              </a:spcBef>
              <a:spcAft>
                <a:spcPts val="800"/>
              </a:spcAft>
              <a:buFont typeface="Wingdings" panose="05000000000000000000" pitchFamily="2" charset="2"/>
              <a:buChar char="Ø"/>
            </a:pPr>
            <a:r>
              <a:rPr lang="en-US" sz="1600" kern="100">
                <a:effectLst/>
                <a:latin typeface="Calibri" panose="020F0502020204030204" pitchFamily="34" charset="0"/>
                <a:ea typeface="Calibri" panose="020F0502020204030204" pitchFamily="34" charset="0"/>
                <a:cs typeface="Times New Roman" panose="02020603050405020304" pitchFamily="18" charset="0"/>
              </a:rPr>
              <a:t> Make sure you can access Flutter-specific features from within the IDE.</a:t>
            </a:r>
          </a:p>
          <a:p>
            <a:pPr marL="0" marR="0" indent="0">
              <a:spcBef>
                <a:spcPts val="0"/>
              </a:spcBef>
              <a:spcAft>
                <a:spcPts val="800"/>
              </a:spcAft>
              <a:buNone/>
            </a:pPr>
            <a:endParaRPr lang="en-US" sz="1600" kern="10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600" kern="100">
                <a:effectLst/>
                <a:latin typeface="Calibri" panose="020F0502020204030204" pitchFamily="34" charset="0"/>
                <a:ea typeface="Calibri" panose="020F0502020204030204" pitchFamily="34" charset="0"/>
                <a:cs typeface="Times New Roman" panose="02020603050405020304" pitchFamily="18" charset="0"/>
              </a:rPr>
              <a:t>Congratulations! You've successfully set up your Flutter development environment, installed Android Studio or Xcode, and configured emulators to test your apps. You're now ready to start building cross-platform mobile applications using Flutter. Remember to consult the official Flutter documentation for more in-depth information and troubleshooting tips.</a:t>
            </a:r>
          </a:p>
          <a:p>
            <a:endParaRPr lang="en-US" sz="1600"/>
          </a:p>
        </p:txBody>
      </p:sp>
    </p:spTree>
    <p:extLst>
      <p:ext uri="{BB962C8B-B14F-4D97-AF65-F5344CB8AC3E}">
        <p14:creationId xmlns:p14="http://schemas.microsoft.com/office/powerpoint/2010/main" val="3613210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man peeking out a window">
            <a:extLst>
              <a:ext uri="{FF2B5EF4-FFF2-40B4-BE49-F238E27FC236}">
                <a16:creationId xmlns:a16="http://schemas.microsoft.com/office/drawing/2014/main" id="{40C1ACCB-6717-9864-25A0-47894C823679}"/>
              </a:ext>
            </a:extLst>
          </p:cNvPr>
          <p:cNvPicPr>
            <a:picLocks noChangeAspect="1"/>
          </p:cNvPicPr>
          <p:nvPr/>
        </p:nvPicPr>
        <p:blipFill rotWithShape="1">
          <a:blip r:embed="rId2"/>
          <a:srcRect l="33709" r="7025" b="-1"/>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4F0E47-E6DF-4D6E-A50E-CB11C1321871}"/>
              </a:ext>
            </a:extLst>
          </p:cNvPr>
          <p:cNvSpPr>
            <a:spLocks noGrp="1"/>
          </p:cNvSpPr>
          <p:nvPr>
            <p:ph type="title"/>
          </p:nvPr>
        </p:nvSpPr>
        <p:spPr>
          <a:xfrm>
            <a:off x="761801" y="328512"/>
            <a:ext cx="4778387" cy="1628970"/>
          </a:xfrm>
        </p:spPr>
        <p:txBody>
          <a:bodyPr anchor="ctr">
            <a:normAutofit/>
          </a:bodyPr>
          <a:lstStyle/>
          <a:p>
            <a:r>
              <a:rPr lang="en-US" sz="3700" b="1">
                <a:effectLst/>
                <a:latin typeface="Open Sans" panose="020B0606030504020204" pitchFamily="34" charset="0"/>
                <a:ea typeface="Times New Roman" panose="02020603050405020304" pitchFamily="18" charset="0"/>
              </a:rPr>
              <a:t>Install Visual Studio (Optional)</a:t>
            </a:r>
            <a:br>
              <a:rPr lang="en-US" sz="3700" b="1">
                <a:effectLst/>
                <a:latin typeface="Times New Roman" panose="02020603050405020304" pitchFamily="18" charset="0"/>
                <a:ea typeface="Times New Roman" panose="02020603050405020304" pitchFamily="18" charset="0"/>
              </a:rPr>
            </a:br>
            <a:endParaRPr lang="en-US" sz="3700"/>
          </a:p>
        </p:txBody>
      </p:sp>
      <p:sp>
        <p:nvSpPr>
          <p:cNvPr id="3" name="Content Placeholder 2">
            <a:extLst>
              <a:ext uri="{FF2B5EF4-FFF2-40B4-BE49-F238E27FC236}">
                <a16:creationId xmlns:a16="http://schemas.microsoft.com/office/drawing/2014/main" id="{2B2CCA95-2D55-44D7-A1BB-F26606EA81D2}"/>
              </a:ext>
            </a:extLst>
          </p:cNvPr>
          <p:cNvSpPr>
            <a:spLocks noGrp="1"/>
          </p:cNvSpPr>
          <p:nvPr>
            <p:ph idx="1"/>
          </p:nvPr>
        </p:nvSpPr>
        <p:spPr>
          <a:xfrm>
            <a:off x="761801" y="2884929"/>
            <a:ext cx="4659756" cy="3374137"/>
          </a:xfrm>
        </p:spPr>
        <p:txBody>
          <a:bodyPr anchor="ctr">
            <a:normAutofit/>
          </a:bodyPr>
          <a:lstStyle/>
          <a:p>
            <a:pPr marL="0" marR="0" indent="0">
              <a:spcBef>
                <a:spcPts val="0"/>
              </a:spcBef>
              <a:spcAft>
                <a:spcPts val="825"/>
              </a:spcAft>
              <a:buNone/>
            </a:pPr>
            <a:r>
              <a:rPr lang="en-US" sz="1400" dirty="0">
                <a:effectLst/>
                <a:latin typeface="Open Sans" panose="020B0606030504020204" pitchFamily="34" charset="0"/>
                <a:ea typeface="Times New Roman" panose="02020603050405020304" pitchFamily="18" charset="0"/>
              </a:rPr>
              <a:t>The above output also shows that Visual Studio is not installed. Visual Studio is not needed unless you want to use Flutter for Windows desktop development. </a:t>
            </a:r>
            <a:endParaRPr lang="en-US" sz="1400" dirty="0">
              <a:effectLst/>
              <a:latin typeface="Times New Roman" panose="02020603050405020304" pitchFamily="18" charset="0"/>
              <a:ea typeface="Times New Roman" panose="02020603050405020304" pitchFamily="18" charset="0"/>
            </a:endParaRPr>
          </a:p>
          <a:p>
            <a:pPr marL="0" marR="0">
              <a:spcBef>
                <a:spcPts val="0"/>
              </a:spcBef>
              <a:spcAft>
                <a:spcPts val="825"/>
              </a:spcAft>
            </a:pPr>
            <a:endParaRPr lang="en-US" sz="1400" dirty="0">
              <a:latin typeface="Open Sans" panose="020B0606030504020204" pitchFamily="34" charset="0"/>
              <a:ea typeface="Times New Roman" panose="02020603050405020304" pitchFamily="18" charset="0"/>
            </a:endParaRPr>
          </a:p>
          <a:p>
            <a:pPr marL="0" marR="0">
              <a:spcBef>
                <a:spcPts val="0"/>
              </a:spcBef>
              <a:spcAft>
                <a:spcPts val="825"/>
              </a:spcAft>
            </a:pPr>
            <a:r>
              <a:rPr lang="en-US" sz="1400" dirty="0">
                <a:effectLst/>
                <a:latin typeface="Open Sans" panose="020B0606030504020204" pitchFamily="34" charset="0"/>
                <a:ea typeface="Times New Roman" panose="02020603050405020304" pitchFamily="18" charset="0"/>
              </a:rPr>
              <a:t>If you need to use it, you can </a:t>
            </a:r>
            <a:r>
              <a:rPr lang="en-US" sz="1400" u="sng" dirty="0">
                <a:effectLst/>
                <a:latin typeface="Open Sans" panose="020B0606030504020204" pitchFamily="34" charset="0"/>
                <a:ea typeface="Times New Roman" panose="02020603050405020304" pitchFamily="18" charset="0"/>
                <a:hlinkClick r:id="rId3"/>
              </a:rPr>
              <a:t>download Microsoft’s Visual Studio 2022 with C++</a:t>
            </a:r>
            <a:r>
              <a:rPr lang="en-US" sz="1400" dirty="0">
                <a:effectLst/>
                <a:latin typeface="Open Sans" panose="020B0606030504020204" pitchFamily="34" charset="0"/>
                <a:ea typeface="Times New Roman" panose="02020603050405020304" pitchFamily="18" charset="0"/>
              </a:rPr>
              <a:t>. Once the </a:t>
            </a:r>
            <a:r>
              <a:rPr lang="en-US" sz="1400" i="1" dirty="0">
                <a:effectLst/>
                <a:latin typeface="Open Sans" panose="020B0606030504020204" pitchFamily="34" charset="0"/>
                <a:ea typeface="Times New Roman" panose="02020603050405020304" pitchFamily="18" charset="0"/>
              </a:rPr>
              <a:t>VisualStudioSetup.exe</a:t>
            </a:r>
            <a:r>
              <a:rPr lang="en-US" sz="1400" dirty="0">
                <a:effectLst/>
                <a:latin typeface="Open Sans" panose="020B0606030504020204" pitchFamily="34" charset="0"/>
                <a:ea typeface="Times New Roman" panose="02020603050405020304" pitchFamily="18" charset="0"/>
              </a:rPr>
              <a:t> file is downloaded, open it and proceed with the installation by agreeing to all default installation options. This installation requires at least 20 GB of free disk space. After the installation completes, run the </a:t>
            </a:r>
            <a:r>
              <a:rPr lang="en-US" sz="1400" i="1" dirty="0">
                <a:effectLst/>
                <a:latin typeface="Open Sans" panose="020B0606030504020204" pitchFamily="34" charset="0"/>
                <a:ea typeface="Times New Roman" panose="02020603050405020304" pitchFamily="18" charset="0"/>
              </a:rPr>
              <a:t>flutter doctor</a:t>
            </a:r>
            <a:r>
              <a:rPr lang="en-US" sz="1400" dirty="0">
                <a:effectLst/>
                <a:latin typeface="Open Sans" panose="020B0606030504020204" pitchFamily="34" charset="0"/>
                <a:ea typeface="Times New Roman" panose="02020603050405020304" pitchFamily="18" charset="0"/>
              </a:rPr>
              <a:t> command in CMD to confirm the Visual Studio installation.</a:t>
            </a:r>
            <a:endParaRPr lang="en-US" sz="1400" dirty="0">
              <a:effectLst/>
              <a:latin typeface="Times New Roman" panose="02020603050405020304" pitchFamily="18" charset="0"/>
              <a:ea typeface="Times New Roman" panose="02020603050405020304" pitchFamily="18" charset="0"/>
            </a:endParaRPr>
          </a:p>
          <a:p>
            <a:endParaRPr lang="en-US" sz="1400" dirty="0"/>
          </a:p>
        </p:txBody>
      </p:sp>
    </p:spTree>
    <p:extLst>
      <p:ext uri="{BB962C8B-B14F-4D97-AF65-F5344CB8AC3E}">
        <p14:creationId xmlns:p14="http://schemas.microsoft.com/office/powerpoint/2010/main" val="53347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E2E87CE-98F1-4255-B6DD-5C12B7CF10F8}"/>
              </a:ext>
            </a:extLst>
          </p:cNvPr>
          <p:cNvSpPr>
            <a:spLocks noGrp="1"/>
          </p:cNvSpPr>
          <p:nvPr>
            <p:ph type="title"/>
          </p:nvPr>
        </p:nvSpPr>
        <p:spPr>
          <a:xfrm>
            <a:off x="1014141" y="1450655"/>
            <a:ext cx="3932030" cy="3956690"/>
          </a:xfrm>
        </p:spPr>
        <p:txBody>
          <a:bodyPr anchor="ctr">
            <a:normAutofit/>
          </a:bodyPr>
          <a:lstStyle/>
          <a:p>
            <a:r>
              <a:rPr lang="en-US" sz="8000">
                <a:solidFill>
                  <a:schemeClr val="bg1"/>
                </a:solidFill>
              </a:rPr>
              <a:t>What you will see</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31FABD8-2ABF-4E37-A977-B29A4483D481}"/>
              </a:ext>
            </a:extLst>
          </p:cNvPr>
          <p:cNvSpPr>
            <a:spLocks noGrp="1"/>
          </p:cNvSpPr>
          <p:nvPr>
            <p:ph idx="1"/>
          </p:nvPr>
        </p:nvSpPr>
        <p:spPr>
          <a:xfrm>
            <a:off x="5052060" y="1143014"/>
            <a:ext cx="5008901" cy="4571972"/>
          </a:xfrm>
        </p:spPr>
        <p:txBody>
          <a:bodyPr anchor="ctr">
            <a:normAutofit/>
          </a:bodyPr>
          <a:lstStyle/>
          <a:p>
            <a:r>
              <a:rPr lang="en-US" sz="1400" dirty="0">
                <a:solidFill>
                  <a:schemeClr val="bg1"/>
                </a:solidFill>
              </a:rPr>
              <a:t>C:\Users\tomz&gt;flutter doctor</a:t>
            </a:r>
          </a:p>
          <a:p>
            <a:r>
              <a:rPr lang="en-US" sz="1400" dirty="0">
                <a:solidFill>
                  <a:schemeClr val="bg1"/>
                </a:solidFill>
              </a:rPr>
              <a:t>Doctor summary (to see all details, run flutter doctor -v):  </a:t>
            </a:r>
          </a:p>
          <a:p>
            <a:r>
              <a:rPr lang="en-US" sz="1400" dirty="0">
                <a:solidFill>
                  <a:schemeClr val="bg1"/>
                </a:solidFill>
              </a:rPr>
              <a:t>[√] Flutter (Channel stable, 2.10.4, on Microsoft Windows [Version 10.0.19041.746], locale </a:t>
            </a:r>
            <a:r>
              <a:rPr lang="en-US" sz="1400" dirty="0" err="1">
                <a:solidFill>
                  <a:schemeClr val="bg1"/>
                </a:solidFill>
              </a:rPr>
              <a:t>en</a:t>
            </a:r>
            <a:r>
              <a:rPr lang="en-US" sz="1400" dirty="0">
                <a:solidFill>
                  <a:schemeClr val="bg1"/>
                </a:solidFill>
              </a:rPr>
              <a:t>-US)</a:t>
            </a:r>
          </a:p>
          <a:p>
            <a:r>
              <a:rPr lang="en-US" sz="1400" dirty="0">
                <a:solidFill>
                  <a:schemeClr val="bg1"/>
                </a:solidFill>
              </a:rPr>
              <a:t>[√] Android toolchain - develop for Android devices (Android SDK version 32.1.0-rc1)</a:t>
            </a:r>
          </a:p>
          <a:p>
            <a:r>
              <a:rPr lang="en-US" sz="1400" dirty="0">
                <a:solidFill>
                  <a:schemeClr val="bg1"/>
                </a:solidFill>
              </a:rPr>
              <a:t>[√] Chrome - develop for the web</a:t>
            </a:r>
          </a:p>
          <a:p>
            <a:r>
              <a:rPr lang="en-US" sz="1400" dirty="0">
                <a:solidFill>
                  <a:schemeClr val="bg1"/>
                </a:solidFill>
              </a:rPr>
              <a:t>[√] Visual Studio - develop for Windows (Visual Studio Community 2022 17.1.3)</a:t>
            </a:r>
          </a:p>
          <a:p>
            <a:r>
              <a:rPr lang="en-US" sz="1400" dirty="0">
                <a:solidFill>
                  <a:schemeClr val="bg1"/>
                </a:solidFill>
              </a:rPr>
              <a:t>[√] Android Studio (version 2021.1)</a:t>
            </a:r>
          </a:p>
          <a:p>
            <a:r>
              <a:rPr lang="en-US" sz="1400" dirty="0">
                <a:solidFill>
                  <a:schemeClr val="bg1"/>
                </a:solidFill>
              </a:rPr>
              <a:t>[√] Connected device (2 available)</a:t>
            </a:r>
          </a:p>
          <a:p>
            <a:r>
              <a:rPr lang="en-US" sz="1400" dirty="0">
                <a:solidFill>
                  <a:schemeClr val="bg1"/>
                </a:solidFill>
              </a:rPr>
              <a:t>[√] HTTP Host Availability</a:t>
            </a:r>
          </a:p>
          <a:p>
            <a:endParaRPr lang="en-US" sz="1400" dirty="0">
              <a:solidFill>
                <a:schemeClr val="bg1"/>
              </a:solidFill>
            </a:endParaRPr>
          </a:p>
          <a:p>
            <a:r>
              <a:rPr lang="en-US" sz="1400" dirty="0">
                <a:solidFill>
                  <a:schemeClr val="bg1"/>
                </a:solidFill>
              </a:rPr>
              <a:t>• No issues found!</a:t>
            </a:r>
          </a:p>
        </p:txBody>
      </p:sp>
    </p:spTree>
    <p:extLst>
      <p:ext uri="{BB962C8B-B14F-4D97-AF65-F5344CB8AC3E}">
        <p14:creationId xmlns:p14="http://schemas.microsoft.com/office/powerpoint/2010/main" val="25243006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127104-47C3-1048-C710-F4B1AC131A99}"/>
              </a:ext>
            </a:extLst>
          </p:cNvPr>
          <p:cNvSpPr>
            <a:spLocks noGrp="1"/>
          </p:cNvSpPr>
          <p:nvPr>
            <p:ph type="title"/>
          </p:nvPr>
        </p:nvSpPr>
        <p:spPr>
          <a:xfrm>
            <a:off x="761803" y="350196"/>
            <a:ext cx="4646904" cy="1624520"/>
          </a:xfrm>
        </p:spPr>
        <p:txBody>
          <a:bodyPr anchor="ctr">
            <a:normAutofit/>
          </a:bodyPr>
          <a:lstStyle/>
          <a:p>
            <a:r>
              <a:rPr lang="en-US" sz="2200" b="1" i="0" dirty="0">
                <a:effectLst/>
                <a:latin typeface="Roboto" panose="02000000000000000000" pitchFamily="2" charset="0"/>
              </a:rPr>
              <a:t>How To Run Flutter App in </a:t>
            </a:r>
            <a:r>
              <a:rPr lang="en-US" sz="2200" b="1" i="0" dirty="0" err="1">
                <a:effectLst/>
                <a:latin typeface="Roboto" panose="02000000000000000000" pitchFamily="2" charset="0"/>
              </a:rPr>
              <a:t>VSCode</a:t>
            </a:r>
            <a:r>
              <a:rPr lang="en-US" sz="2200" b="1" i="0" dirty="0">
                <a:effectLst/>
                <a:latin typeface="Roboto" panose="02000000000000000000" pitchFamily="2" charset="0"/>
              </a:rPr>
              <a:t> Android Emulator on Windows 10 or 11 (2023)</a:t>
            </a:r>
            <a:br>
              <a:rPr lang="en-US" sz="2200" b="1" i="0" dirty="0">
                <a:effectLst/>
                <a:latin typeface="Roboto" panose="02000000000000000000" pitchFamily="2" charset="0"/>
              </a:rPr>
            </a:br>
            <a:br>
              <a:rPr lang="en-US" sz="2200" dirty="0"/>
            </a:br>
            <a:endParaRPr lang="en-US" sz="2200" dirty="0"/>
          </a:p>
        </p:txBody>
      </p:sp>
      <p:sp>
        <p:nvSpPr>
          <p:cNvPr id="3" name="Content Placeholder 2">
            <a:extLst>
              <a:ext uri="{FF2B5EF4-FFF2-40B4-BE49-F238E27FC236}">
                <a16:creationId xmlns:a16="http://schemas.microsoft.com/office/drawing/2014/main" id="{F2AFFF9E-7CD2-451E-68D4-CBF7480C3816}"/>
              </a:ext>
            </a:extLst>
          </p:cNvPr>
          <p:cNvSpPr>
            <a:spLocks noGrp="1"/>
          </p:cNvSpPr>
          <p:nvPr>
            <p:ph idx="1"/>
          </p:nvPr>
        </p:nvSpPr>
        <p:spPr>
          <a:xfrm>
            <a:off x="761802" y="2743200"/>
            <a:ext cx="4646905" cy="3613149"/>
          </a:xfrm>
        </p:spPr>
        <p:txBody>
          <a:bodyPr anchor="ctr">
            <a:normAutofit/>
          </a:bodyPr>
          <a:lstStyle/>
          <a:p>
            <a:r>
              <a:rPr lang="en-US" sz="2000"/>
              <a:t>https://www.youtube.com/watch?v=EhGW4UYpKSE</a:t>
            </a:r>
          </a:p>
        </p:txBody>
      </p:sp>
      <p:pic>
        <p:nvPicPr>
          <p:cNvPr id="5" name="Picture 4" descr="Woman peeking out a window">
            <a:extLst>
              <a:ext uri="{FF2B5EF4-FFF2-40B4-BE49-F238E27FC236}">
                <a16:creationId xmlns:a16="http://schemas.microsoft.com/office/drawing/2014/main" id="{B9119CCC-DB7F-7C39-8ABA-50FCAEC228A3}"/>
              </a:ext>
            </a:extLst>
          </p:cNvPr>
          <p:cNvPicPr>
            <a:picLocks noChangeAspect="1"/>
          </p:cNvPicPr>
          <p:nvPr/>
        </p:nvPicPr>
        <p:blipFill rotWithShape="1">
          <a:blip r:embed="rId2"/>
          <a:srcRect l="33642" r="6957" b="-2"/>
          <a:stretch/>
        </p:blipFill>
        <p:spPr>
          <a:xfrm>
            <a:off x="6096000" y="1"/>
            <a:ext cx="6102825" cy="6858000"/>
          </a:xfrm>
          <a:prstGeom prst="rect">
            <a:avLst/>
          </a:prstGeom>
        </p:spPr>
      </p:pic>
    </p:spTree>
    <p:extLst>
      <p:ext uri="{BB962C8B-B14F-4D97-AF65-F5344CB8AC3E}">
        <p14:creationId xmlns:p14="http://schemas.microsoft.com/office/powerpoint/2010/main" val="121625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102CB6-F202-453A-AED2-2F1D45D1FAB7}"/>
              </a:ext>
            </a:extLst>
          </p:cNvPr>
          <p:cNvSpPr>
            <a:spLocks noGrp="1"/>
          </p:cNvSpPr>
          <p:nvPr>
            <p:ph type="title"/>
          </p:nvPr>
        </p:nvSpPr>
        <p:spPr>
          <a:xfrm>
            <a:off x="2187363" y="1671569"/>
            <a:ext cx="5801917" cy="2228760"/>
          </a:xfrm>
        </p:spPr>
        <p:txBody>
          <a:bodyPr anchor="b">
            <a:normAutofit/>
          </a:bodyPr>
          <a:lstStyle/>
          <a:p>
            <a:r>
              <a:rPr lang="en-US" sz="4000"/>
              <a:t>Conclusion</a:t>
            </a:r>
          </a:p>
        </p:txBody>
      </p:sp>
      <p:pic>
        <p:nvPicPr>
          <p:cNvPr id="13" name="Graphic 6" descr="Fingerprint">
            <a:extLst>
              <a:ext uri="{FF2B5EF4-FFF2-40B4-BE49-F238E27FC236}">
                <a16:creationId xmlns:a16="http://schemas.microsoft.com/office/drawing/2014/main" id="{CD2B0962-59E6-B086-2960-6CF4F86404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5BD3713C-C600-407D-B2FE-D483A312B305}"/>
              </a:ext>
            </a:extLst>
          </p:cNvPr>
          <p:cNvSpPr>
            <a:spLocks noGrp="1"/>
          </p:cNvSpPr>
          <p:nvPr>
            <p:ph idx="1"/>
          </p:nvPr>
        </p:nvSpPr>
        <p:spPr>
          <a:xfrm>
            <a:off x="2187364" y="4072044"/>
            <a:ext cx="5801917" cy="2057045"/>
          </a:xfrm>
        </p:spPr>
        <p:txBody>
          <a:bodyPr>
            <a:normAutofit/>
          </a:bodyPr>
          <a:lstStyle/>
          <a:p>
            <a:r>
              <a:rPr lang="en-US" sz="2000">
                <a:effectLst/>
                <a:latin typeface="Open Sans" panose="020B0606030504020204" pitchFamily="34" charset="0"/>
                <a:ea typeface="Times New Roman" panose="02020603050405020304" pitchFamily="18" charset="0"/>
              </a:rPr>
              <a:t>At this point, all the tools for Flutter projects are ready to be used for the development of Flutter apps. Depending on your needs, you can start your projects in Android Studio or Visual Studio.</a:t>
            </a:r>
            <a:endParaRPr lang="en-US" sz="2000">
              <a:effectLst/>
              <a:latin typeface="Times New Roman" panose="02020603050405020304" pitchFamily="18" charset="0"/>
              <a:ea typeface="Times New Roman" panose="02020603050405020304" pitchFamily="18" charset="0"/>
            </a:endParaRPr>
          </a:p>
          <a:p>
            <a:endParaRPr lang="en-US" sz="2000"/>
          </a:p>
        </p:txBody>
      </p:sp>
      <p:pic>
        <p:nvPicPr>
          <p:cNvPr id="9" name="Graphic 8" descr="Fingerprint">
            <a:extLst>
              <a:ext uri="{FF2B5EF4-FFF2-40B4-BE49-F238E27FC236}">
                <a16:creationId xmlns:a16="http://schemas.microsoft.com/office/drawing/2014/main" id="{7AA7E6A4-85BA-4E1F-9072-E3776311671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1089319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622</TotalTime>
  <Words>2232</Words>
  <Application>Microsoft Office PowerPoint</Application>
  <PresentationFormat>Widescreen</PresentationFormat>
  <Paragraphs>192</Paragraphs>
  <Slides>38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Arial</vt:lpstr>
      <vt:lpstr>Calibri</vt:lpstr>
      <vt:lpstr>Calibri Light</vt:lpstr>
      <vt:lpstr>Google Sans</vt:lpstr>
      <vt:lpstr>Google Sans Text</vt:lpstr>
      <vt:lpstr>Open Sans</vt:lpstr>
      <vt:lpstr>Roboto</vt:lpstr>
      <vt:lpstr>Symbol</vt:lpstr>
      <vt:lpstr>Times New Roman</vt:lpstr>
      <vt:lpstr>Wingdings</vt:lpstr>
      <vt:lpstr>Office Theme</vt:lpstr>
      <vt:lpstr>MAD – 4360/6370</vt:lpstr>
      <vt:lpstr>Setting up a development environment for Flutter </vt:lpstr>
      <vt:lpstr>Flutter set-up</vt:lpstr>
      <vt:lpstr>Here's a detailed guide to help you through the process: </vt:lpstr>
      <vt:lpstr>1. Install flutter using SDK </vt:lpstr>
      <vt:lpstr>1. Install flutter continue</vt:lpstr>
      <vt:lpstr>Option B - Update Path Variable for Windows PowerShell </vt:lpstr>
      <vt:lpstr>Step 2: Under User variables, click on and highlight Path. Click Edit. </vt:lpstr>
      <vt:lpstr>Step 3:</vt:lpstr>
      <vt:lpstr>1. Use VS Code to install Flutter</vt:lpstr>
      <vt:lpstr>PowerPoint Presentation</vt:lpstr>
      <vt:lpstr>PowerPoint Presentation</vt:lpstr>
      <vt:lpstr>PowerPoint Presentation</vt:lpstr>
      <vt:lpstr>Run Flutter Doctor: </vt:lpstr>
      <vt:lpstr>Step 4: Confirm Installed Tools for Running Flutter </vt:lpstr>
      <vt:lpstr> Step 5: Download and Install Android Studio (Main)  then after  Xcode </vt:lpstr>
      <vt:lpstr>Step 6: Set Up Emulators: </vt:lpstr>
      <vt:lpstr>What you will see</vt:lpstr>
      <vt:lpstr>Step 7</vt:lpstr>
      <vt:lpstr>Step 8: </vt:lpstr>
      <vt:lpstr>Step 8</vt:lpstr>
      <vt:lpstr>Step 9:</vt:lpstr>
      <vt:lpstr>Step 10:</vt:lpstr>
      <vt:lpstr>Step 11:</vt:lpstr>
      <vt:lpstr>Step 12:</vt:lpstr>
      <vt:lpstr>Step 13</vt:lpstr>
      <vt:lpstr>Step 14:</vt:lpstr>
      <vt:lpstr>How the CMD line tool error</vt:lpstr>
      <vt:lpstr>Results from the doctor </vt:lpstr>
      <vt:lpstr>After a successful install</vt:lpstr>
      <vt:lpstr>Calling the doctor</vt:lpstr>
      <vt:lpstr>Step 15: Verification of the Flutter Installation </vt:lpstr>
      <vt:lpstr> Xcode (for iOS development): </vt:lpstr>
      <vt:lpstr>Verify IDE Integration: </vt:lpstr>
      <vt:lpstr>Install Visual Studio (Optional) </vt:lpstr>
      <vt:lpstr>What you will see</vt:lpstr>
      <vt:lpstr>How To Run Flutter App in VSCode Android Emulator on Windows 10 or 11 (2023)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Setting up a development environment for Flutter </dc:title>
  <dc:creator>Louis R Henry</dc:creator>
  <cp:lastModifiedBy>Louis Henry</cp:lastModifiedBy>
  <cp:revision>19</cp:revision>
  <dcterms:created xsi:type="dcterms:W3CDTF">2023-08-28T00:27:54Z</dcterms:created>
  <dcterms:modified xsi:type="dcterms:W3CDTF">2024-01-23T00:26:52Z</dcterms:modified>
</cp:coreProperties>
</file>